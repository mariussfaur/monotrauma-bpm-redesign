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Brick Sans" panose="020B0604020202020204" charset="0"/>
      <p:regular r:id="rId25"/>
    </p:embeddedFont>
    <p:embeddedFont>
      <p:font typeface="Canva Sans" panose="020B0604020202020204" charset="0"/>
      <p:regular r:id="rId26"/>
    </p:embeddedFont>
    <p:embeddedFont>
      <p:font typeface="Public Sans" panose="020B0604020202020204" charset="0"/>
      <p:regular r:id="rId27"/>
    </p:embeddedFont>
    <p:embeddedFont>
      <p:font typeface="Public Sans Bold" panose="020B0604020202020204" charset="0"/>
      <p:regular r:id="rId28"/>
    </p:embeddedFont>
    <p:embeddedFont>
      <p:font typeface="Public Sans Heavy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1483" y="2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i Quintas" userId="8380a376caf6170f" providerId="LiveId" clId="{086DAF36-88C2-4D05-ABD6-D3F4E754B8A6}"/>
    <pc:docChg chg="modSld">
      <pc:chgData name="Rui Quintas" userId="8380a376caf6170f" providerId="LiveId" clId="{086DAF36-88C2-4D05-ABD6-D3F4E754B8A6}" dt="2025-12-15T00:08:13.217" v="19" actId="20577"/>
      <pc:docMkLst>
        <pc:docMk/>
      </pc:docMkLst>
      <pc:sldChg chg="modSp mod">
        <pc:chgData name="Rui Quintas" userId="8380a376caf6170f" providerId="LiveId" clId="{086DAF36-88C2-4D05-ABD6-D3F4E754B8A6}" dt="2025-12-15T00:07:12.740" v="11" actId="12"/>
        <pc:sldMkLst>
          <pc:docMk/>
          <pc:sldMk cId="0" sldId="257"/>
        </pc:sldMkLst>
        <pc:spChg chg="mod">
          <ac:chgData name="Rui Quintas" userId="8380a376caf6170f" providerId="LiveId" clId="{086DAF36-88C2-4D05-ABD6-D3F4E754B8A6}" dt="2025-12-15T00:07:12.740" v="11" actId="12"/>
          <ac:spMkLst>
            <pc:docMk/>
            <pc:sldMk cId="0" sldId="257"/>
            <ac:spMk id="11" creationId="{00000000-0000-0000-0000-000000000000}"/>
          </ac:spMkLst>
        </pc:spChg>
      </pc:sldChg>
      <pc:sldChg chg="modSp mod">
        <pc:chgData name="Rui Quintas" userId="8380a376caf6170f" providerId="LiveId" clId="{086DAF36-88C2-4D05-ABD6-D3F4E754B8A6}" dt="2025-12-15T00:07:19.575" v="12" actId="5793"/>
        <pc:sldMkLst>
          <pc:docMk/>
          <pc:sldMk cId="0" sldId="258"/>
        </pc:sldMkLst>
        <pc:spChg chg="mod">
          <ac:chgData name="Rui Quintas" userId="8380a376caf6170f" providerId="LiveId" clId="{086DAF36-88C2-4D05-ABD6-D3F4E754B8A6}" dt="2025-12-15T00:07:19.575" v="12" actId="5793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Rui Quintas" userId="8380a376caf6170f" providerId="LiveId" clId="{086DAF36-88C2-4D05-ABD6-D3F4E754B8A6}" dt="2025-12-15T00:01:31.663" v="0" actId="1036"/>
        <pc:sldMkLst>
          <pc:docMk/>
          <pc:sldMk cId="0" sldId="260"/>
        </pc:sldMkLst>
        <pc:grpChg chg="mod">
          <ac:chgData name="Rui Quintas" userId="8380a376caf6170f" providerId="LiveId" clId="{086DAF36-88C2-4D05-ABD6-D3F4E754B8A6}" dt="2025-12-15T00:01:31.663" v="0" actId="1036"/>
          <ac:grpSpMkLst>
            <pc:docMk/>
            <pc:sldMk cId="0" sldId="260"/>
            <ac:grpSpMk id="4" creationId="{00000000-0000-0000-0000-000000000000}"/>
          </ac:grpSpMkLst>
        </pc:grpChg>
      </pc:sldChg>
      <pc:sldChg chg="modSp mod">
        <pc:chgData name="Rui Quintas" userId="8380a376caf6170f" providerId="LiveId" clId="{086DAF36-88C2-4D05-ABD6-D3F4E754B8A6}" dt="2025-12-15T00:01:46.148" v="1" actId="20577"/>
        <pc:sldMkLst>
          <pc:docMk/>
          <pc:sldMk cId="0" sldId="264"/>
        </pc:sldMkLst>
        <pc:spChg chg="mod">
          <ac:chgData name="Rui Quintas" userId="8380a376caf6170f" providerId="LiveId" clId="{086DAF36-88C2-4D05-ABD6-D3F4E754B8A6}" dt="2025-12-15T00:01:46.148" v="1" actId="20577"/>
          <ac:spMkLst>
            <pc:docMk/>
            <pc:sldMk cId="0" sldId="264"/>
            <ac:spMk id="11" creationId="{00000000-0000-0000-0000-000000000000}"/>
          </ac:spMkLst>
        </pc:spChg>
      </pc:sldChg>
      <pc:sldChg chg="modSp mod">
        <pc:chgData name="Rui Quintas" userId="8380a376caf6170f" providerId="LiveId" clId="{086DAF36-88C2-4D05-ABD6-D3F4E754B8A6}" dt="2025-12-15T00:08:13.217" v="19" actId="20577"/>
        <pc:sldMkLst>
          <pc:docMk/>
          <pc:sldMk cId="0" sldId="269"/>
        </pc:sldMkLst>
        <pc:spChg chg="mod">
          <ac:chgData name="Rui Quintas" userId="8380a376caf6170f" providerId="LiveId" clId="{086DAF36-88C2-4D05-ABD6-D3F4E754B8A6}" dt="2025-12-15T00:08:13.217" v="19" actId="20577"/>
          <ac:spMkLst>
            <pc:docMk/>
            <pc:sldMk cId="0" sldId="269"/>
            <ac:spMk id="13" creationId="{00000000-0000-0000-0000-000000000000}"/>
          </ac:spMkLst>
        </pc:spChg>
      </pc:sldChg>
      <pc:sldChg chg="modSp mod">
        <pc:chgData name="Rui Quintas" userId="8380a376caf6170f" providerId="LiveId" clId="{086DAF36-88C2-4D05-ABD6-D3F4E754B8A6}" dt="2025-12-15T00:02:32.706" v="2" actId="20577"/>
        <pc:sldMkLst>
          <pc:docMk/>
          <pc:sldMk cId="0" sldId="273"/>
        </pc:sldMkLst>
        <pc:spChg chg="mod">
          <ac:chgData name="Rui Quintas" userId="8380a376caf6170f" providerId="LiveId" clId="{086DAF36-88C2-4D05-ABD6-D3F4E754B8A6}" dt="2025-12-15T00:02:32.706" v="2" actId="20577"/>
          <ac:spMkLst>
            <pc:docMk/>
            <pc:sldMk cId="0" sldId="273"/>
            <ac:spMk id="13" creationId="{00000000-0000-0000-0000-000000000000}"/>
          </ac:spMkLst>
        </pc:spChg>
      </pc:sldChg>
      <pc:sldChg chg="modSp mod">
        <pc:chgData name="Rui Quintas" userId="8380a376caf6170f" providerId="LiveId" clId="{086DAF36-88C2-4D05-ABD6-D3F4E754B8A6}" dt="2025-12-15T00:02:37.919" v="3" actId="20577"/>
        <pc:sldMkLst>
          <pc:docMk/>
          <pc:sldMk cId="0" sldId="274"/>
        </pc:sldMkLst>
        <pc:spChg chg="mod">
          <ac:chgData name="Rui Quintas" userId="8380a376caf6170f" providerId="LiveId" clId="{086DAF36-88C2-4D05-ABD6-D3F4E754B8A6}" dt="2025-12-15T00:02:37.919" v="3" actId="20577"/>
          <ac:spMkLst>
            <pc:docMk/>
            <pc:sldMk cId="0" sldId="274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2.svg"/><Relationship Id="rId10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2.svg"/><Relationship Id="rId10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.sv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6.png"/><Relationship Id="rId5" Type="http://schemas.openxmlformats.org/officeDocument/2006/relationships/image" Target="../media/image12.svg"/><Relationship Id="rId10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4.svg"/><Relationship Id="rId10" Type="http://schemas.openxmlformats.org/officeDocument/2006/relationships/image" Target="../media/image21.png"/><Relationship Id="rId4" Type="http://schemas.openxmlformats.org/officeDocument/2006/relationships/image" Target="../media/image23.png"/><Relationship Id="rId9" Type="http://schemas.openxmlformats.org/officeDocument/2006/relationships/image" Target="../media/image2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4.pn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6.svg"/><Relationship Id="rId5" Type="http://schemas.openxmlformats.org/officeDocument/2006/relationships/image" Target="../media/image10.sv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2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5.png"/><Relationship Id="rId18" Type="http://schemas.openxmlformats.org/officeDocument/2006/relationships/image" Target="../media/image40.sv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9.png"/><Relationship Id="rId2" Type="http://schemas.openxmlformats.org/officeDocument/2006/relationships/image" Target="../media/image1.png"/><Relationship Id="rId16" Type="http://schemas.openxmlformats.org/officeDocument/2006/relationships/image" Target="../media/image3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6.svg"/><Relationship Id="rId5" Type="http://schemas.openxmlformats.org/officeDocument/2006/relationships/image" Target="../media/image10.svg"/><Relationship Id="rId15" Type="http://schemas.openxmlformats.org/officeDocument/2006/relationships/image" Target="../media/image37.png"/><Relationship Id="rId10" Type="http://schemas.openxmlformats.org/officeDocument/2006/relationships/image" Target="../media/image5.png"/><Relationship Id="rId19" Type="http://schemas.openxmlformats.org/officeDocument/2006/relationships/image" Target="../media/image41.png"/><Relationship Id="rId4" Type="http://schemas.openxmlformats.org/officeDocument/2006/relationships/image" Target="../media/image9.png"/><Relationship Id="rId9" Type="http://schemas.openxmlformats.org/officeDocument/2006/relationships/image" Target="../media/image20.svg"/><Relationship Id="rId14" Type="http://schemas.openxmlformats.org/officeDocument/2006/relationships/image" Target="../media/image3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1.png"/><Relationship Id="rId5" Type="http://schemas.openxmlformats.org/officeDocument/2006/relationships/image" Target="../media/image16.svg"/><Relationship Id="rId10" Type="http://schemas.openxmlformats.org/officeDocument/2006/relationships/image" Target="../media/image42.png"/><Relationship Id="rId4" Type="http://schemas.openxmlformats.org/officeDocument/2006/relationships/image" Target="../media/image15.png"/><Relationship Id="rId9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43.pn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6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44.pn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45.pn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6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20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4.svg"/><Relationship Id="rId10" Type="http://schemas.openxmlformats.org/officeDocument/2006/relationships/image" Target="../media/image21.png"/><Relationship Id="rId4" Type="http://schemas.openxmlformats.org/officeDocument/2006/relationships/image" Target="../media/image23.png"/><Relationship Id="rId9" Type="http://schemas.openxmlformats.org/officeDocument/2006/relationships/image" Target="../media/image16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12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6.svg"/><Relationship Id="rId5" Type="http://schemas.openxmlformats.org/officeDocument/2006/relationships/image" Target="../media/image24.svg"/><Relationship Id="rId10" Type="http://schemas.openxmlformats.org/officeDocument/2006/relationships/image" Target="../media/image15.png"/><Relationship Id="rId4" Type="http://schemas.openxmlformats.org/officeDocument/2006/relationships/image" Target="../media/image23.png"/><Relationship Id="rId9" Type="http://schemas.openxmlformats.org/officeDocument/2006/relationships/image" Target="../media/image20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4.svg"/><Relationship Id="rId10" Type="http://schemas.openxmlformats.org/officeDocument/2006/relationships/image" Target="../media/image21.png"/><Relationship Id="rId4" Type="http://schemas.openxmlformats.org/officeDocument/2006/relationships/image" Target="../media/image23.png"/><Relationship Id="rId9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22894" y="1049600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rot="-1793077">
            <a:off x="1979827" y="-203162"/>
            <a:ext cx="1769402" cy="2463725"/>
          </a:xfrm>
          <a:custGeom>
            <a:avLst/>
            <a:gdLst/>
            <a:ahLst/>
            <a:cxnLst/>
            <a:rect l="l" t="t" r="r" b="b"/>
            <a:pathLst>
              <a:path w="1769402" h="2463725">
                <a:moveTo>
                  <a:pt x="0" y="0"/>
                </a:moveTo>
                <a:lnTo>
                  <a:pt x="1769402" y="0"/>
                </a:lnTo>
                <a:lnTo>
                  <a:pt x="1769402" y="2463724"/>
                </a:lnTo>
                <a:lnTo>
                  <a:pt x="0" y="24637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>
            <a:off x="11942242" y="249336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 rot="855077">
            <a:off x="14265134" y="-162966"/>
            <a:ext cx="2066999" cy="2383332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6" name="Group 6"/>
          <p:cNvGrpSpPr/>
          <p:nvPr/>
        </p:nvGrpSpPr>
        <p:grpSpPr>
          <a:xfrm>
            <a:off x="3129847" y="603503"/>
            <a:ext cx="12092272" cy="4190887"/>
            <a:chOff x="0" y="0"/>
            <a:chExt cx="1100680" cy="3814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00680" cy="381469"/>
            </a:xfrm>
            <a:custGeom>
              <a:avLst/>
              <a:gdLst/>
              <a:ahLst/>
              <a:cxnLst/>
              <a:rect l="l" t="t" r="r" b="b"/>
              <a:pathLst>
                <a:path w="1100680" h="381469">
                  <a:moveTo>
                    <a:pt x="897480" y="0"/>
                  </a:moveTo>
                  <a:cubicBezTo>
                    <a:pt x="1009705" y="0"/>
                    <a:pt x="1100680" y="85395"/>
                    <a:pt x="1100680" y="190734"/>
                  </a:cubicBezTo>
                  <a:cubicBezTo>
                    <a:pt x="1100680" y="296074"/>
                    <a:pt x="1009705" y="381469"/>
                    <a:pt x="897480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00680" cy="41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432945" y="5542054"/>
            <a:ext cx="5018594" cy="5403600"/>
          </a:xfrm>
          <a:custGeom>
            <a:avLst/>
            <a:gdLst/>
            <a:ahLst/>
            <a:cxnLst/>
            <a:rect l="l" t="t" r="r" b="b"/>
            <a:pathLst>
              <a:path w="5018594" h="5403600">
                <a:moveTo>
                  <a:pt x="0" y="0"/>
                </a:moveTo>
                <a:lnTo>
                  <a:pt x="5018594" y="0"/>
                </a:lnTo>
                <a:lnTo>
                  <a:pt x="5018594" y="5403600"/>
                </a:lnTo>
                <a:lnTo>
                  <a:pt x="0" y="5403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2639554" y="5542054"/>
            <a:ext cx="3814457" cy="5060639"/>
          </a:xfrm>
          <a:custGeom>
            <a:avLst/>
            <a:gdLst/>
            <a:ahLst/>
            <a:cxnLst/>
            <a:rect l="l" t="t" r="r" b="b"/>
            <a:pathLst>
              <a:path w="3814457" h="5060639">
                <a:moveTo>
                  <a:pt x="0" y="0"/>
                </a:moveTo>
                <a:lnTo>
                  <a:pt x="3814457" y="0"/>
                </a:lnTo>
                <a:lnTo>
                  <a:pt x="3814457" y="5060640"/>
                </a:lnTo>
                <a:lnTo>
                  <a:pt x="0" y="50606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Freeform 11"/>
          <p:cNvSpPr/>
          <p:nvPr/>
        </p:nvSpPr>
        <p:spPr>
          <a:xfrm>
            <a:off x="5644433" y="5542054"/>
            <a:ext cx="4031635" cy="5229715"/>
          </a:xfrm>
          <a:custGeom>
            <a:avLst/>
            <a:gdLst/>
            <a:ahLst/>
            <a:cxnLst/>
            <a:rect l="l" t="t" r="r" b="b"/>
            <a:pathLst>
              <a:path w="4031635" h="5229715">
                <a:moveTo>
                  <a:pt x="0" y="0"/>
                </a:moveTo>
                <a:lnTo>
                  <a:pt x="4031635" y="0"/>
                </a:lnTo>
                <a:lnTo>
                  <a:pt x="4031635" y="5229715"/>
                </a:lnTo>
                <a:lnTo>
                  <a:pt x="0" y="52297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2" name="Freeform 12"/>
          <p:cNvSpPr/>
          <p:nvPr/>
        </p:nvSpPr>
        <p:spPr>
          <a:xfrm rot="-1257881">
            <a:off x="-400893" y="2974914"/>
            <a:ext cx="3549762" cy="3440042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3" name="Freeform 13"/>
          <p:cNvSpPr/>
          <p:nvPr/>
        </p:nvSpPr>
        <p:spPr>
          <a:xfrm rot="-1248570">
            <a:off x="15858283" y="2774300"/>
            <a:ext cx="2885297" cy="4111175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4" name="Freeform 14"/>
          <p:cNvSpPr/>
          <p:nvPr/>
        </p:nvSpPr>
        <p:spPr>
          <a:xfrm>
            <a:off x="12635147" y="5372979"/>
            <a:ext cx="3123355" cy="5205592"/>
          </a:xfrm>
          <a:custGeom>
            <a:avLst/>
            <a:gdLst/>
            <a:ahLst/>
            <a:cxnLst/>
            <a:rect l="l" t="t" r="r" b="b"/>
            <a:pathLst>
              <a:path w="3123355" h="5205592">
                <a:moveTo>
                  <a:pt x="0" y="0"/>
                </a:moveTo>
                <a:lnTo>
                  <a:pt x="3123356" y="0"/>
                </a:lnTo>
                <a:lnTo>
                  <a:pt x="3123356" y="5205592"/>
                </a:lnTo>
                <a:lnTo>
                  <a:pt x="0" y="520559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5" name="Freeform 15"/>
          <p:cNvSpPr/>
          <p:nvPr/>
        </p:nvSpPr>
        <p:spPr>
          <a:xfrm rot="-5500207">
            <a:off x="3412617" y="3531639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16" name="Group 16"/>
          <p:cNvGrpSpPr/>
          <p:nvPr/>
        </p:nvGrpSpPr>
        <p:grpSpPr>
          <a:xfrm>
            <a:off x="5721748" y="258861"/>
            <a:ext cx="7040819" cy="939006"/>
            <a:chOff x="0" y="0"/>
            <a:chExt cx="2860316" cy="38146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60316" cy="381469"/>
            </a:xfrm>
            <a:custGeom>
              <a:avLst/>
              <a:gdLst/>
              <a:ahLst/>
              <a:cxnLst/>
              <a:rect l="l" t="t" r="r" b="b"/>
              <a:pathLst>
                <a:path w="2860316" h="381469">
                  <a:moveTo>
                    <a:pt x="2657116" y="0"/>
                  </a:moveTo>
                  <a:cubicBezTo>
                    <a:pt x="2769341" y="0"/>
                    <a:pt x="2860316" y="85395"/>
                    <a:pt x="2860316" y="190734"/>
                  </a:cubicBezTo>
                  <a:cubicBezTo>
                    <a:pt x="2860316" y="296074"/>
                    <a:pt x="2769341" y="381469"/>
                    <a:pt x="2657116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DD2EA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860316" cy="41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-5500207" flipH="1">
            <a:off x="13302578" y="3654686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0" name="Freeform 20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1" name="Freeform 21"/>
          <p:cNvSpPr/>
          <p:nvPr/>
        </p:nvSpPr>
        <p:spPr>
          <a:xfrm>
            <a:off x="7023448" y="347775"/>
            <a:ext cx="4690194" cy="772421"/>
          </a:xfrm>
          <a:custGeom>
            <a:avLst/>
            <a:gdLst/>
            <a:ahLst/>
            <a:cxnLst/>
            <a:rect l="l" t="t" r="r" b="b"/>
            <a:pathLst>
              <a:path w="4690194" h="772421">
                <a:moveTo>
                  <a:pt x="0" y="0"/>
                </a:moveTo>
                <a:lnTo>
                  <a:pt x="4690194" y="0"/>
                </a:lnTo>
                <a:lnTo>
                  <a:pt x="4690194" y="772420"/>
                </a:lnTo>
                <a:lnTo>
                  <a:pt x="0" y="77242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2" name="TextBox 22"/>
          <p:cNvSpPr txBox="1"/>
          <p:nvPr/>
        </p:nvSpPr>
        <p:spPr>
          <a:xfrm>
            <a:off x="3893988" y="1382275"/>
            <a:ext cx="10557551" cy="2499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 Minor Trauma Emergency Circuit (MonoTrauma)</a:t>
            </a:r>
          </a:p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           Redesign Approach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0140" y="2560561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2598715" y="-615042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488696" y="364688"/>
            <a:ext cx="17310608" cy="9505931"/>
            <a:chOff x="0" y="0"/>
            <a:chExt cx="774713" cy="4254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4713" cy="425425"/>
            </a:xfrm>
            <a:custGeom>
              <a:avLst/>
              <a:gdLst/>
              <a:ahLst/>
              <a:cxnLst/>
              <a:rect l="l" t="t" r="r" b="b"/>
              <a:pathLst>
                <a:path w="774713" h="425425">
                  <a:moveTo>
                    <a:pt x="571513" y="0"/>
                  </a:moveTo>
                  <a:cubicBezTo>
                    <a:pt x="683737" y="0"/>
                    <a:pt x="774713" y="95235"/>
                    <a:pt x="774713" y="212713"/>
                  </a:cubicBezTo>
                  <a:cubicBezTo>
                    <a:pt x="774713" y="330191"/>
                    <a:pt x="683737" y="425425"/>
                    <a:pt x="571513" y="425425"/>
                  </a:cubicBezTo>
                  <a:lnTo>
                    <a:pt x="203200" y="425425"/>
                  </a:lnTo>
                  <a:cubicBezTo>
                    <a:pt x="90976" y="425425"/>
                    <a:pt x="0" y="330191"/>
                    <a:pt x="0" y="212713"/>
                  </a:cubicBezTo>
                  <a:cubicBezTo>
                    <a:pt x="0" y="9523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74713" cy="4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2598715" y="3248178"/>
            <a:ext cx="5689285" cy="7379969"/>
          </a:xfrm>
          <a:custGeom>
            <a:avLst/>
            <a:gdLst/>
            <a:ahLst/>
            <a:cxnLst/>
            <a:rect l="l" t="t" r="r" b="b"/>
            <a:pathLst>
              <a:path w="5689285" h="7379969">
                <a:moveTo>
                  <a:pt x="0" y="0"/>
                </a:moveTo>
                <a:lnTo>
                  <a:pt x="5689285" y="0"/>
                </a:lnTo>
                <a:lnTo>
                  <a:pt x="5689285" y="7379968"/>
                </a:lnTo>
                <a:lnTo>
                  <a:pt x="0" y="7379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 rot="-137149">
            <a:off x="798905" y="392089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 rot="-1248570">
            <a:off x="558321" y="6346755"/>
            <a:ext cx="2532247" cy="3608124"/>
          </a:xfrm>
          <a:custGeom>
            <a:avLst/>
            <a:gdLst/>
            <a:ahLst/>
            <a:cxnLst/>
            <a:rect l="l" t="t" r="r" b="b"/>
            <a:pathLst>
              <a:path w="2532247" h="3608124">
                <a:moveTo>
                  <a:pt x="0" y="0"/>
                </a:moveTo>
                <a:lnTo>
                  <a:pt x="2532248" y="0"/>
                </a:lnTo>
                <a:lnTo>
                  <a:pt x="2532248" y="3608124"/>
                </a:lnTo>
                <a:lnTo>
                  <a:pt x="0" y="36081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TextBox 10"/>
          <p:cNvSpPr txBox="1"/>
          <p:nvPr/>
        </p:nvSpPr>
        <p:spPr>
          <a:xfrm>
            <a:off x="1641617" y="3392084"/>
            <a:ext cx="9500068" cy="262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The Problem: Increasing pressure on emergency services; need to optimize patient flow and resource utilization.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The Process: Minor Trauma Emergency Circuit "MonoTrauma" – A distinct pathway for minor orthopedic trauma (limbs/vertebral) designed to reduce waiting times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97481" y="6112011"/>
            <a:ext cx="8052644" cy="355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Project Objectives: </a:t>
            </a:r>
          </a:p>
          <a:p>
            <a:pPr algn="l">
              <a:lnSpc>
                <a:spcPts val="3499"/>
              </a:lnSpc>
            </a:pPr>
            <a:endParaRPr lang="en-US" sz="2499" b="1" dirty="0">
              <a:solidFill>
                <a:srgbClr val="222366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marL="342900" indent="-3429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Model the AS-IS process.</a:t>
            </a:r>
          </a:p>
          <a:p>
            <a:pPr marL="342900" indent="-3429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Identify inefficiencies (Qualitative &amp; Quantitative Analysis).</a:t>
            </a:r>
          </a:p>
          <a:p>
            <a:pPr marL="342900" indent="-3429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Propose an improved TO-BE model supported by simulation and financial evaluation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806273" y="584882"/>
            <a:ext cx="12637084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3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Context &amp; Objectives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0140" y="2560561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2598715" y="-615042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488696" y="364688"/>
            <a:ext cx="17310608" cy="9505931"/>
            <a:chOff x="0" y="0"/>
            <a:chExt cx="774713" cy="4254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4713" cy="425425"/>
            </a:xfrm>
            <a:custGeom>
              <a:avLst/>
              <a:gdLst/>
              <a:ahLst/>
              <a:cxnLst/>
              <a:rect l="l" t="t" r="r" b="b"/>
              <a:pathLst>
                <a:path w="774713" h="425425">
                  <a:moveTo>
                    <a:pt x="571513" y="0"/>
                  </a:moveTo>
                  <a:cubicBezTo>
                    <a:pt x="683737" y="0"/>
                    <a:pt x="774713" y="95235"/>
                    <a:pt x="774713" y="212713"/>
                  </a:cubicBezTo>
                  <a:cubicBezTo>
                    <a:pt x="774713" y="330191"/>
                    <a:pt x="683737" y="425425"/>
                    <a:pt x="571513" y="425425"/>
                  </a:cubicBezTo>
                  <a:lnTo>
                    <a:pt x="203200" y="425425"/>
                  </a:lnTo>
                  <a:cubicBezTo>
                    <a:pt x="90976" y="425425"/>
                    <a:pt x="0" y="330191"/>
                    <a:pt x="0" y="212713"/>
                  </a:cubicBezTo>
                  <a:cubicBezTo>
                    <a:pt x="0" y="9523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74713" cy="4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2598715" y="3248178"/>
            <a:ext cx="5689285" cy="7379969"/>
          </a:xfrm>
          <a:custGeom>
            <a:avLst/>
            <a:gdLst/>
            <a:ahLst/>
            <a:cxnLst/>
            <a:rect l="l" t="t" r="r" b="b"/>
            <a:pathLst>
              <a:path w="5689285" h="7379969">
                <a:moveTo>
                  <a:pt x="0" y="0"/>
                </a:moveTo>
                <a:lnTo>
                  <a:pt x="5689285" y="0"/>
                </a:lnTo>
                <a:lnTo>
                  <a:pt x="5689285" y="7379968"/>
                </a:lnTo>
                <a:lnTo>
                  <a:pt x="0" y="7379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 rot="-137149">
            <a:off x="798905" y="392089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 rot="-1248570">
            <a:off x="558321" y="6755901"/>
            <a:ext cx="2532247" cy="3608124"/>
          </a:xfrm>
          <a:custGeom>
            <a:avLst/>
            <a:gdLst/>
            <a:ahLst/>
            <a:cxnLst/>
            <a:rect l="l" t="t" r="r" b="b"/>
            <a:pathLst>
              <a:path w="2532247" h="3608124">
                <a:moveTo>
                  <a:pt x="0" y="0"/>
                </a:moveTo>
                <a:lnTo>
                  <a:pt x="2532248" y="0"/>
                </a:lnTo>
                <a:lnTo>
                  <a:pt x="2532248" y="3608125"/>
                </a:lnTo>
                <a:lnTo>
                  <a:pt x="0" y="36081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TextBox 10"/>
          <p:cNvSpPr txBox="1"/>
          <p:nvPr/>
        </p:nvSpPr>
        <p:spPr>
          <a:xfrm>
            <a:off x="2695029" y="2899775"/>
            <a:ext cx="9515196" cy="669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 dirty="0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Framework:</a:t>
            </a:r>
            <a:r>
              <a:rPr lang="en-US" sz="2499" dirty="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 Full BPM Lifecycle (</a:t>
            </a:r>
            <a:r>
              <a:rPr lang="en-US" sz="2499" dirty="0" err="1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Identification→Redesign</a:t>
            </a:r>
            <a:r>
              <a:rPr lang="en-US" sz="2499" dirty="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)</a:t>
            </a:r>
          </a:p>
          <a:p>
            <a:pPr algn="just">
              <a:lnSpc>
                <a:spcPts val="3499"/>
              </a:lnSpc>
            </a:pPr>
            <a:endParaRPr lang="en-US" sz="2499" dirty="0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just">
              <a:lnSpc>
                <a:spcPts val="3499"/>
              </a:lnSpc>
            </a:pPr>
            <a:r>
              <a:rPr lang="en-US" sz="2499" b="1" dirty="0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Modelling:</a:t>
            </a:r>
            <a:r>
              <a:rPr lang="en-US" sz="2499" dirty="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 BPMN 2.0 standards using Bizagi Modeler</a:t>
            </a:r>
          </a:p>
          <a:p>
            <a:pPr algn="just">
              <a:lnSpc>
                <a:spcPts val="3499"/>
              </a:lnSpc>
            </a:pPr>
            <a:endParaRPr lang="en-US" sz="2499" dirty="0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just">
              <a:lnSpc>
                <a:spcPts val="3499"/>
              </a:lnSpc>
            </a:pPr>
            <a:r>
              <a:rPr lang="en-US" sz="2499" b="1" dirty="0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Qualitative Analysis: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Value-Added Analysis (VA, BVA, NVA)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Waste Analysis (Move, Hold, Over-do)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Issue Register (Impact assessment)</a:t>
            </a:r>
          </a:p>
          <a:p>
            <a:pPr marL="269874" lvl="1" algn="just">
              <a:lnSpc>
                <a:spcPts val="3499"/>
              </a:lnSpc>
            </a:pPr>
            <a:endParaRPr lang="en-US" sz="2499" dirty="0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just">
              <a:lnSpc>
                <a:spcPts val="3499"/>
              </a:lnSpc>
            </a:pPr>
            <a:r>
              <a:rPr lang="en-US" sz="2499" b="1" dirty="0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Quantitative Analysis</a:t>
            </a:r>
            <a:r>
              <a:rPr lang="en-US" sz="2499" dirty="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: Discrete-Event Simulation (Time, Cost, Resources)</a:t>
            </a:r>
          </a:p>
          <a:p>
            <a:pPr algn="just">
              <a:lnSpc>
                <a:spcPts val="3499"/>
              </a:lnSpc>
            </a:pPr>
            <a:endParaRPr lang="en-US" sz="2499" dirty="0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just">
              <a:lnSpc>
                <a:spcPts val="3499"/>
              </a:lnSpc>
            </a:pPr>
            <a:r>
              <a:rPr lang="en-US" sz="2499" b="1" dirty="0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Redesign Strategy</a:t>
            </a:r>
            <a:r>
              <a:rPr lang="en-US" sz="2499" dirty="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: Heuristics (Re-sequencing &amp; Parallelism)</a:t>
            </a:r>
          </a:p>
          <a:p>
            <a:pPr algn="just">
              <a:lnSpc>
                <a:spcPts val="3499"/>
              </a:lnSpc>
            </a:pPr>
            <a:endParaRPr lang="en-US" sz="2499" dirty="0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just">
              <a:lnSpc>
                <a:spcPts val="3499"/>
              </a:lnSpc>
            </a:pPr>
            <a:endParaRPr lang="en-US" sz="2499" dirty="0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06273" y="-131823"/>
            <a:ext cx="12637084" cy="225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3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Theoretical Background (Methodology)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19793" y="3409707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>
            <a:off x="9543588" y="-939737"/>
            <a:ext cx="8010427" cy="12590062"/>
          </a:xfrm>
          <a:custGeom>
            <a:avLst/>
            <a:gdLst/>
            <a:ahLst/>
            <a:cxnLst/>
            <a:rect l="l" t="t" r="r" b="b"/>
            <a:pathLst>
              <a:path w="8010427" h="12590062">
                <a:moveTo>
                  <a:pt x="0" y="0"/>
                </a:moveTo>
                <a:lnTo>
                  <a:pt x="8010427" y="0"/>
                </a:lnTo>
                <a:lnTo>
                  <a:pt x="8010427" y="12590061"/>
                </a:lnTo>
                <a:lnTo>
                  <a:pt x="0" y="125900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5" name="Group 5"/>
          <p:cNvGrpSpPr/>
          <p:nvPr/>
        </p:nvGrpSpPr>
        <p:grpSpPr>
          <a:xfrm>
            <a:off x="10621259" y="718329"/>
            <a:ext cx="5694209" cy="8280195"/>
            <a:chOff x="0" y="0"/>
            <a:chExt cx="812800" cy="11819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181927"/>
            </a:xfrm>
            <a:custGeom>
              <a:avLst/>
              <a:gdLst/>
              <a:ahLst/>
              <a:cxnLst/>
              <a:rect l="l" t="t" r="r" b="b"/>
              <a:pathLst>
                <a:path w="812800" h="1181927">
                  <a:moveTo>
                    <a:pt x="0" y="0"/>
                  </a:moveTo>
                  <a:lnTo>
                    <a:pt x="812800" y="0"/>
                  </a:lnTo>
                  <a:lnTo>
                    <a:pt x="812800" y="1181927"/>
                  </a:lnTo>
                  <a:lnTo>
                    <a:pt x="0" y="1181927"/>
                  </a:lnTo>
                  <a:close/>
                </a:path>
              </a:pathLst>
            </a:custGeom>
            <a:solidFill>
              <a:srgbClr val="E9EAF6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122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248570">
            <a:off x="7709921" y="64751"/>
            <a:ext cx="1885910" cy="2687178"/>
          </a:xfrm>
          <a:custGeom>
            <a:avLst/>
            <a:gdLst/>
            <a:ahLst/>
            <a:cxnLst/>
            <a:rect l="l" t="t" r="r" b="b"/>
            <a:pathLst>
              <a:path w="1885910" h="2687178">
                <a:moveTo>
                  <a:pt x="0" y="0"/>
                </a:moveTo>
                <a:lnTo>
                  <a:pt x="1885910" y="0"/>
                </a:lnTo>
                <a:lnTo>
                  <a:pt x="1885910" y="2687178"/>
                </a:lnTo>
                <a:lnTo>
                  <a:pt x="0" y="26871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>
            <a:off x="116448" y="3000431"/>
            <a:ext cx="9132425" cy="4406395"/>
          </a:xfrm>
          <a:custGeom>
            <a:avLst/>
            <a:gdLst/>
            <a:ahLst/>
            <a:cxnLst/>
            <a:rect l="l" t="t" r="r" b="b"/>
            <a:pathLst>
              <a:path w="9132425" h="4406395">
                <a:moveTo>
                  <a:pt x="0" y="0"/>
                </a:moveTo>
                <a:lnTo>
                  <a:pt x="9132425" y="0"/>
                </a:lnTo>
                <a:lnTo>
                  <a:pt x="9132425" y="4406395"/>
                </a:lnTo>
                <a:lnTo>
                  <a:pt x="0" y="4406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TextBox 10"/>
          <p:cNvSpPr txBox="1"/>
          <p:nvPr/>
        </p:nvSpPr>
        <p:spPr>
          <a:xfrm>
            <a:off x="10621259" y="841058"/>
            <a:ext cx="5818048" cy="8547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Level 1 Overview: </a:t>
            </a:r>
            <a:r>
              <a:rPr lang="en-US" sz="210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The macro process flows through four main departments: Admission, Triage, Radiology, and Orthopedics.</a:t>
            </a: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Detailed Modelling: </a:t>
            </a:r>
            <a:r>
              <a:rPr lang="en-US" sz="210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The process was decomposed into</a:t>
            </a:r>
            <a:r>
              <a:rPr lang="en-US" sz="2100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8 specific sub-processes </a:t>
            </a:r>
            <a:r>
              <a:rPr lang="en-US" sz="210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to capture all operational details:</a:t>
            </a:r>
          </a:p>
          <a:p>
            <a:pPr algn="ctr">
              <a:lnSpc>
                <a:spcPts val="2940"/>
              </a:lnSpc>
            </a:pPr>
            <a:endParaRPr lang="en-US" sz="2100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453390" lvl="1" indent="-226695" algn="ctr">
              <a:lnSpc>
                <a:spcPts val="2940"/>
              </a:lnSpc>
              <a:buAutoNum type="arabicPeriod"/>
            </a:pPr>
            <a:r>
              <a:rPr lang="en-US" sz="2100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Admission</a:t>
            </a:r>
            <a:r>
              <a:rPr lang="en-US" sz="210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 (Registration &amp; Administrative data)</a:t>
            </a:r>
            <a:r>
              <a:rPr lang="en-US" sz="2100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.</a:t>
            </a:r>
          </a:p>
          <a:p>
            <a:pPr marL="453390" lvl="1" indent="-226695" algn="ctr">
              <a:lnSpc>
                <a:spcPts val="2940"/>
              </a:lnSpc>
              <a:buAutoNum type="arabicPeriod"/>
            </a:pPr>
            <a:r>
              <a:rPr lang="en-US" sz="2100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Triage </a:t>
            </a:r>
            <a:r>
              <a:rPr lang="en-US" sz="210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(Prioritization &amp; MonoTrauma activation).</a:t>
            </a:r>
          </a:p>
          <a:p>
            <a:pPr marL="453390" lvl="1" indent="-226695" algn="ctr">
              <a:lnSpc>
                <a:spcPts val="2940"/>
              </a:lnSpc>
              <a:buAutoNum type="arabicPeriod"/>
            </a:pPr>
            <a:r>
              <a:rPr lang="en-US" sz="2100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Radiology: </a:t>
            </a:r>
            <a:r>
              <a:rPr lang="en-US" sz="210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First Approach (Initial X-Ray execution).</a:t>
            </a:r>
          </a:p>
          <a:p>
            <a:pPr marL="453390" lvl="1" indent="-226695" algn="ctr">
              <a:lnSpc>
                <a:spcPts val="2940"/>
              </a:lnSpc>
              <a:buAutoNum type="arabicPeriod"/>
            </a:pPr>
            <a:r>
              <a:rPr lang="en-US" sz="2100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Orthopedics: </a:t>
            </a:r>
            <a:r>
              <a:rPr lang="en-US" sz="210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First Evaluation (Diagnosis &amp; Decision).</a:t>
            </a:r>
          </a:p>
          <a:p>
            <a:pPr marL="453390" lvl="1" indent="-226695" algn="ctr">
              <a:lnSpc>
                <a:spcPts val="2940"/>
              </a:lnSpc>
              <a:buAutoNum type="arabicPeriod"/>
            </a:pPr>
            <a:r>
              <a:rPr lang="en-US" sz="2100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Radiology:</a:t>
            </a:r>
            <a:r>
              <a:rPr lang="en-US" sz="210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 X-Ray Prescriptions (Control exams for treatment confirmation).</a:t>
            </a:r>
          </a:p>
          <a:p>
            <a:pPr marL="453390" lvl="1" indent="-226695" algn="ctr">
              <a:lnSpc>
                <a:spcPts val="2940"/>
              </a:lnSpc>
              <a:buAutoNum type="arabicPeriod"/>
            </a:pPr>
            <a:r>
              <a:rPr lang="en-US" sz="2100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Orthopedic Screening </a:t>
            </a:r>
            <a:r>
              <a:rPr lang="en-US" sz="210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(Review of control images).</a:t>
            </a:r>
          </a:p>
          <a:p>
            <a:pPr marL="453390" lvl="1" indent="-226695" algn="ctr">
              <a:lnSpc>
                <a:spcPts val="2940"/>
              </a:lnSpc>
              <a:buAutoNum type="arabicPeriod"/>
            </a:pPr>
            <a:r>
              <a:rPr lang="en-US" sz="2100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Radiology: </a:t>
            </a:r>
            <a:r>
              <a:rPr lang="en-US" sz="210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CT Scan (For surgery planning).</a:t>
            </a:r>
          </a:p>
          <a:p>
            <a:pPr marL="453390" lvl="1" indent="-226695" algn="ctr">
              <a:lnSpc>
                <a:spcPts val="2940"/>
              </a:lnSpc>
              <a:buAutoNum type="arabicPeriod"/>
            </a:pPr>
            <a:r>
              <a:rPr lang="en-US" sz="2100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Orthopedics: </a:t>
            </a:r>
            <a:r>
              <a:rPr lang="en-US" sz="210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Final Evaluation (Discharge or Surgery Admission)</a:t>
            </a:r>
          </a:p>
          <a:p>
            <a:pPr algn="ctr">
              <a:lnSpc>
                <a:spcPts val="2940"/>
              </a:lnSpc>
            </a:pPr>
            <a:endParaRPr lang="en-US" sz="2100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6448" y="7778866"/>
            <a:ext cx="6806688" cy="1671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2366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Overview: </a:t>
            </a:r>
            <a:r>
              <a:rPr lang="en-US" sz="320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The process comprises 4 main lanes: Admission, Triage, Radiology, and Orthopedics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3856" y="175170"/>
            <a:ext cx="7655658" cy="2285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AS-IS Process Modeling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E41E77-DE9B-D61C-1340-23DEB7E337FD}"/>
              </a:ext>
            </a:extLst>
          </p:cNvPr>
          <p:cNvSpPr txBox="1"/>
          <p:nvPr/>
        </p:nvSpPr>
        <p:spPr>
          <a:xfrm>
            <a:off x="137237" y="7305021"/>
            <a:ext cx="30878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 dirty="0">
                <a:solidFill>
                  <a:schemeClr val="tx2">
                    <a:lumMod val="75000"/>
                  </a:schemeClr>
                </a:solidFill>
              </a:rPr>
              <a:t>AS-IS </a:t>
            </a:r>
            <a:r>
              <a:rPr lang="pt-PT" sz="1000" b="1" dirty="0" err="1">
                <a:solidFill>
                  <a:schemeClr val="tx2">
                    <a:lumMod val="75000"/>
                  </a:schemeClr>
                </a:solidFill>
              </a:rPr>
              <a:t>Level</a:t>
            </a:r>
            <a:r>
              <a:rPr lang="pt-PT" sz="1000" b="1" dirty="0">
                <a:solidFill>
                  <a:schemeClr val="tx2">
                    <a:lumMod val="75000"/>
                  </a:schemeClr>
                </a:solidFill>
              </a:rPr>
              <a:t> 1 </a:t>
            </a:r>
            <a:r>
              <a:rPr lang="pt-PT" sz="1000" b="1" dirty="0" err="1">
                <a:solidFill>
                  <a:schemeClr val="tx2">
                    <a:lumMod val="75000"/>
                  </a:schemeClr>
                </a:solidFill>
              </a:rPr>
              <a:t>diagram</a:t>
            </a:r>
            <a:endParaRPr lang="pt-PT" sz="1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0140" y="2560561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2598715" y="-615042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579465" y="285769"/>
            <a:ext cx="17310608" cy="9505931"/>
            <a:chOff x="0" y="0"/>
            <a:chExt cx="774713" cy="4254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4713" cy="425425"/>
            </a:xfrm>
            <a:custGeom>
              <a:avLst/>
              <a:gdLst/>
              <a:ahLst/>
              <a:cxnLst/>
              <a:rect l="l" t="t" r="r" b="b"/>
              <a:pathLst>
                <a:path w="774713" h="425425">
                  <a:moveTo>
                    <a:pt x="571513" y="0"/>
                  </a:moveTo>
                  <a:cubicBezTo>
                    <a:pt x="683737" y="0"/>
                    <a:pt x="774713" y="95235"/>
                    <a:pt x="774713" y="212713"/>
                  </a:cubicBezTo>
                  <a:cubicBezTo>
                    <a:pt x="774713" y="330191"/>
                    <a:pt x="683737" y="425425"/>
                    <a:pt x="571513" y="425425"/>
                  </a:cubicBezTo>
                  <a:lnTo>
                    <a:pt x="203200" y="425425"/>
                  </a:lnTo>
                  <a:cubicBezTo>
                    <a:pt x="90976" y="425425"/>
                    <a:pt x="0" y="330191"/>
                    <a:pt x="0" y="212713"/>
                  </a:cubicBezTo>
                  <a:cubicBezTo>
                    <a:pt x="0" y="9523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74713" cy="4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709373" y="2324650"/>
            <a:ext cx="5689285" cy="7379969"/>
          </a:xfrm>
          <a:custGeom>
            <a:avLst/>
            <a:gdLst/>
            <a:ahLst/>
            <a:cxnLst/>
            <a:rect l="l" t="t" r="r" b="b"/>
            <a:pathLst>
              <a:path w="5689285" h="7379969">
                <a:moveTo>
                  <a:pt x="0" y="0"/>
                </a:moveTo>
                <a:lnTo>
                  <a:pt x="5689285" y="0"/>
                </a:lnTo>
                <a:lnTo>
                  <a:pt x="5689285" y="7379968"/>
                </a:lnTo>
                <a:lnTo>
                  <a:pt x="0" y="7379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 rot="-137149">
            <a:off x="798905" y="392089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 rot="-1248570">
            <a:off x="558321" y="6346755"/>
            <a:ext cx="2532247" cy="3608124"/>
          </a:xfrm>
          <a:custGeom>
            <a:avLst/>
            <a:gdLst/>
            <a:ahLst/>
            <a:cxnLst/>
            <a:rect l="l" t="t" r="r" b="b"/>
            <a:pathLst>
              <a:path w="2532247" h="3608124">
                <a:moveTo>
                  <a:pt x="0" y="0"/>
                </a:moveTo>
                <a:lnTo>
                  <a:pt x="2532248" y="0"/>
                </a:lnTo>
                <a:lnTo>
                  <a:pt x="2532248" y="3608124"/>
                </a:lnTo>
                <a:lnTo>
                  <a:pt x="0" y="36081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Freeform 11"/>
          <p:cNvSpPr/>
          <p:nvPr/>
        </p:nvSpPr>
        <p:spPr>
          <a:xfrm>
            <a:off x="2929046" y="4024551"/>
            <a:ext cx="12611444" cy="5233749"/>
          </a:xfrm>
          <a:custGeom>
            <a:avLst/>
            <a:gdLst/>
            <a:ahLst/>
            <a:cxnLst/>
            <a:rect l="l" t="t" r="r" b="b"/>
            <a:pathLst>
              <a:path w="12611444" h="5233749">
                <a:moveTo>
                  <a:pt x="0" y="0"/>
                </a:moveTo>
                <a:lnTo>
                  <a:pt x="12611445" y="0"/>
                </a:lnTo>
                <a:lnTo>
                  <a:pt x="12611445" y="5233749"/>
                </a:lnTo>
                <a:lnTo>
                  <a:pt x="0" y="52337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2" name="TextBox 12"/>
          <p:cNvSpPr txBox="1"/>
          <p:nvPr/>
        </p:nvSpPr>
        <p:spPr>
          <a:xfrm>
            <a:off x="4622216" y="2574840"/>
            <a:ext cx="12637084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3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Admission sub-process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3856" y="175170"/>
            <a:ext cx="7655658" cy="2285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AS-IS Process Modeling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0140" y="2560561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2598715" y="-615042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579465" y="198688"/>
            <a:ext cx="17310608" cy="9505931"/>
            <a:chOff x="0" y="0"/>
            <a:chExt cx="774713" cy="4254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4713" cy="425425"/>
            </a:xfrm>
            <a:custGeom>
              <a:avLst/>
              <a:gdLst/>
              <a:ahLst/>
              <a:cxnLst/>
              <a:rect l="l" t="t" r="r" b="b"/>
              <a:pathLst>
                <a:path w="774713" h="425425">
                  <a:moveTo>
                    <a:pt x="571513" y="0"/>
                  </a:moveTo>
                  <a:cubicBezTo>
                    <a:pt x="683737" y="0"/>
                    <a:pt x="774713" y="95235"/>
                    <a:pt x="774713" y="212713"/>
                  </a:cubicBezTo>
                  <a:cubicBezTo>
                    <a:pt x="774713" y="330191"/>
                    <a:pt x="683737" y="425425"/>
                    <a:pt x="571513" y="425425"/>
                  </a:cubicBezTo>
                  <a:lnTo>
                    <a:pt x="203200" y="425425"/>
                  </a:lnTo>
                  <a:cubicBezTo>
                    <a:pt x="90976" y="425425"/>
                    <a:pt x="0" y="330191"/>
                    <a:pt x="0" y="212713"/>
                  </a:cubicBezTo>
                  <a:cubicBezTo>
                    <a:pt x="0" y="9523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74713" cy="4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37149">
            <a:off x="798905" y="392089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 rot="-1248570">
            <a:off x="558321" y="6346755"/>
            <a:ext cx="2532247" cy="3608124"/>
          </a:xfrm>
          <a:custGeom>
            <a:avLst/>
            <a:gdLst/>
            <a:ahLst/>
            <a:cxnLst/>
            <a:rect l="l" t="t" r="r" b="b"/>
            <a:pathLst>
              <a:path w="2532247" h="3608124">
                <a:moveTo>
                  <a:pt x="0" y="0"/>
                </a:moveTo>
                <a:lnTo>
                  <a:pt x="2532248" y="0"/>
                </a:lnTo>
                <a:lnTo>
                  <a:pt x="2532248" y="3608124"/>
                </a:lnTo>
                <a:lnTo>
                  <a:pt x="0" y="36081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1270846" y="3617663"/>
            <a:ext cx="15988454" cy="3697330"/>
          </a:xfrm>
          <a:custGeom>
            <a:avLst/>
            <a:gdLst/>
            <a:ahLst/>
            <a:cxnLst/>
            <a:rect l="l" t="t" r="r" b="b"/>
            <a:pathLst>
              <a:path w="15988454" h="3697330">
                <a:moveTo>
                  <a:pt x="0" y="0"/>
                </a:moveTo>
                <a:lnTo>
                  <a:pt x="15988454" y="0"/>
                </a:lnTo>
                <a:lnTo>
                  <a:pt x="15988454" y="3697330"/>
                </a:lnTo>
                <a:lnTo>
                  <a:pt x="0" y="36973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TextBox 11"/>
          <p:cNvSpPr txBox="1"/>
          <p:nvPr/>
        </p:nvSpPr>
        <p:spPr>
          <a:xfrm>
            <a:off x="2806273" y="902592"/>
            <a:ext cx="12637084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3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Triage sub-process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0140" y="2560561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2598715" y="-615042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579465" y="198688"/>
            <a:ext cx="17310608" cy="9505931"/>
            <a:chOff x="0" y="0"/>
            <a:chExt cx="774713" cy="4254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4713" cy="425425"/>
            </a:xfrm>
            <a:custGeom>
              <a:avLst/>
              <a:gdLst/>
              <a:ahLst/>
              <a:cxnLst/>
              <a:rect l="l" t="t" r="r" b="b"/>
              <a:pathLst>
                <a:path w="774713" h="425425">
                  <a:moveTo>
                    <a:pt x="571513" y="0"/>
                  </a:moveTo>
                  <a:cubicBezTo>
                    <a:pt x="683737" y="0"/>
                    <a:pt x="774713" y="95235"/>
                    <a:pt x="774713" y="212713"/>
                  </a:cubicBezTo>
                  <a:cubicBezTo>
                    <a:pt x="774713" y="330191"/>
                    <a:pt x="683737" y="425425"/>
                    <a:pt x="571513" y="425425"/>
                  </a:cubicBezTo>
                  <a:lnTo>
                    <a:pt x="203200" y="425425"/>
                  </a:lnTo>
                  <a:cubicBezTo>
                    <a:pt x="90976" y="425425"/>
                    <a:pt x="0" y="330191"/>
                    <a:pt x="0" y="212713"/>
                  </a:cubicBezTo>
                  <a:cubicBezTo>
                    <a:pt x="0" y="9523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74713" cy="4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37149">
            <a:off x="798905" y="392089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 rot="-1248570">
            <a:off x="558321" y="6346755"/>
            <a:ext cx="2532247" cy="3608124"/>
          </a:xfrm>
          <a:custGeom>
            <a:avLst/>
            <a:gdLst/>
            <a:ahLst/>
            <a:cxnLst/>
            <a:rect l="l" t="t" r="r" b="b"/>
            <a:pathLst>
              <a:path w="2532247" h="3608124">
                <a:moveTo>
                  <a:pt x="0" y="0"/>
                </a:moveTo>
                <a:lnTo>
                  <a:pt x="2532248" y="0"/>
                </a:lnTo>
                <a:lnTo>
                  <a:pt x="2532248" y="3608124"/>
                </a:lnTo>
                <a:lnTo>
                  <a:pt x="0" y="36081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180049" y="4295906"/>
            <a:ext cx="17898481" cy="2661339"/>
          </a:xfrm>
          <a:custGeom>
            <a:avLst/>
            <a:gdLst/>
            <a:ahLst/>
            <a:cxnLst/>
            <a:rect l="l" t="t" r="r" b="b"/>
            <a:pathLst>
              <a:path w="17898481" h="2661339">
                <a:moveTo>
                  <a:pt x="0" y="0"/>
                </a:moveTo>
                <a:lnTo>
                  <a:pt x="17898481" y="0"/>
                </a:lnTo>
                <a:lnTo>
                  <a:pt x="17898481" y="2661339"/>
                </a:lnTo>
                <a:lnTo>
                  <a:pt x="0" y="26613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b="-880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TextBox 11"/>
          <p:cNvSpPr txBox="1"/>
          <p:nvPr/>
        </p:nvSpPr>
        <p:spPr>
          <a:xfrm>
            <a:off x="2806273" y="543485"/>
            <a:ext cx="12637084" cy="225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3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Radiology – first approach sub-process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0140" y="2560561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2598715" y="-615042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579465" y="198688"/>
            <a:ext cx="17310608" cy="9505931"/>
            <a:chOff x="0" y="0"/>
            <a:chExt cx="774713" cy="4254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4713" cy="425425"/>
            </a:xfrm>
            <a:custGeom>
              <a:avLst/>
              <a:gdLst/>
              <a:ahLst/>
              <a:cxnLst/>
              <a:rect l="l" t="t" r="r" b="b"/>
              <a:pathLst>
                <a:path w="774713" h="425425">
                  <a:moveTo>
                    <a:pt x="571513" y="0"/>
                  </a:moveTo>
                  <a:cubicBezTo>
                    <a:pt x="683737" y="0"/>
                    <a:pt x="774713" y="95235"/>
                    <a:pt x="774713" y="212713"/>
                  </a:cubicBezTo>
                  <a:cubicBezTo>
                    <a:pt x="774713" y="330191"/>
                    <a:pt x="683737" y="425425"/>
                    <a:pt x="571513" y="425425"/>
                  </a:cubicBezTo>
                  <a:lnTo>
                    <a:pt x="203200" y="425425"/>
                  </a:lnTo>
                  <a:cubicBezTo>
                    <a:pt x="90976" y="425425"/>
                    <a:pt x="0" y="330191"/>
                    <a:pt x="0" y="212713"/>
                  </a:cubicBezTo>
                  <a:cubicBezTo>
                    <a:pt x="0" y="9523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74713" cy="4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37149">
            <a:off x="798905" y="392089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 rot="-1248570">
            <a:off x="558321" y="6346755"/>
            <a:ext cx="2532247" cy="3608124"/>
          </a:xfrm>
          <a:custGeom>
            <a:avLst/>
            <a:gdLst/>
            <a:ahLst/>
            <a:cxnLst/>
            <a:rect l="l" t="t" r="r" b="b"/>
            <a:pathLst>
              <a:path w="2532247" h="3608124">
                <a:moveTo>
                  <a:pt x="0" y="0"/>
                </a:moveTo>
                <a:lnTo>
                  <a:pt x="2532248" y="0"/>
                </a:lnTo>
                <a:lnTo>
                  <a:pt x="2532248" y="3608124"/>
                </a:lnTo>
                <a:lnTo>
                  <a:pt x="0" y="36081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1028700" y="3142281"/>
            <a:ext cx="15957703" cy="5325883"/>
          </a:xfrm>
          <a:custGeom>
            <a:avLst/>
            <a:gdLst/>
            <a:ahLst/>
            <a:cxnLst/>
            <a:rect l="l" t="t" r="r" b="b"/>
            <a:pathLst>
              <a:path w="15957703" h="5325883">
                <a:moveTo>
                  <a:pt x="0" y="0"/>
                </a:moveTo>
                <a:lnTo>
                  <a:pt x="15957703" y="0"/>
                </a:lnTo>
                <a:lnTo>
                  <a:pt x="15957703" y="5325883"/>
                </a:lnTo>
                <a:lnTo>
                  <a:pt x="0" y="53258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TextBox 11"/>
          <p:cNvSpPr txBox="1"/>
          <p:nvPr/>
        </p:nvSpPr>
        <p:spPr>
          <a:xfrm>
            <a:off x="2806273" y="543485"/>
            <a:ext cx="12637084" cy="225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3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Orthopedics first evaluation sub-process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0140" y="2560561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2598715" y="-615042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579465" y="198688"/>
            <a:ext cx="17310608" cy="9505931"/>
            <a:chOff x="0" y="0"/>
            <a:chExt cx="774713" cy="4254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4713" cy="425425"/>
            </a:xfrm>
            <a:custGeom>
              <a:avLst/>
              <a:gdLst/>
              <a:ahLst/>
              <a:cxnLst/>
              <a:rect l="l" t="t" r="r" b="b"/>
              <a:pathLst>
                <a:path w="774713" h="425425">
                  <a:moveTo>
                    <a:pt x="571513" y="0"/>
                  </a:moveTo>
                  <a:cubicBezTo>
                    <a:pt x="683737" y="0"/>
                    <a:pt x="774713" y="95235"/>
                    <a:pt x="774713" y="212713"/>
                  </a:cubicBezTo>
                  <a:cubicBezTo>
                    <a:pt x="774713" y="330191"/>
                    <a:pt x="683737" y="425425"/>
                    <a:pt x="571513" y="425425"/>
                  </a:cubicBezTo>
                  <a:lnTo>
                    <a:pt x="203200" y="425425"/>
                  </a:lnTo>
                  <a:cubicBezTo>
                    <a:pt x="90976" y="425425"/>
                    <a:pt x="0" y="330191"/>
                    <a:pt x="0" y="212713"/>
                  </a:cubicBezTo>
                  <a:cubicBezTo>
                    <a:pt x="0" y="9523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74713" cy="4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37149">
            <a:off x="798905" y="392089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 rot="-1248570">
            <a:off x="558321" y="6346755"/>
            <a:ext cx="2532247" cy="3608124"/>
          </a:xfrm>
          <a:custGeom>
            <a:avLst/>
            <a:gdLst/>
            <a:ahLst/>
            <a:cxnLst/>
            <a:rect l="l" t="t" r="r" b="b"/>
            <a:pathLst>
              <a:path w="2532247" h="3608124">
                <a:moveTo>
                  <a:pt x="0" y="0"/>
                </a:moveTo>
                <a:lnTo>
                  <a:pt x="2532248" y="0"/>
                </a:lnTo>
                <a:lnTo>
                  <a:pt x="2532248" y="3608124"/>
                </a:lnTo>
                <a:lnTo>
                  <a:pt x="0" y="36081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1086019" y="3353487"/>
            <a:ext cx="16115963" cy="3988701"/>
          </a:xfrm>
          <a:custGeom>
            <a:avLst/>
            <a:gdLst/>
            <a:ahLst/>
            <a:cxnLst/>
            <a:rect l="l" t="t" r="r" b="b"/>
            <a:pathLst>
              <a:path w="16115963" h="3988701">
                <a:moveTo>
                  <a:pt x="0" y="0"/>
                </a:moveTo>
                <a:lnTo>
                  <a:pt x="16115962" y="0"/>
                </a:lnTo>
                <a:lnTo>
                  <a:pt x="16115962" y="3988701"/>
                </a:lnTo>
                <a:lnTo>
                  <a:pt x="0" y="39887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TextBox 11"/>
          <p:cNvSpPr txBox="1"/>
          <p:nvPr/>
        </p:nvSpPr>
        <p:spPr>
          <a:xfrm>
            <a:off x="2806273" y="600635"/>
            <a:ext cx="12637084" cy="159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dirty="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Radiology – X-Ray prescriptions sub-process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0140" y="2560561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2598715" y="-615042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579465" y="198688"/>
            <a:ext cx="17310608" cy="9505931"/>
            <a:chOff x="0" y="0"/>
            <a:chExt cx="774713" cy="4254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4713" cy="425425"/>
            </a:xfrm>
            <a:custGeom>
              <a:avLst/>
              <a:gdLst/>
              <a:ahLst/>
              <a:cxnLst/>
              <a:rect l="l" t="t" r="r" b="b"/>
              <a:pathLst>
                <a:path w="774713" h="425425">
                  <a:moveTo>
                    <a:pt x="571513" y="0"/>
                  </a:moveTo>
                  <a:cubicBezTo>
                    <a:pt x="683737" y="0"/>
                    <a:pt x="774713" y="95235"/>
                    <a:pt x="774713" y="212713"/>
                  </a:cubicBezTo>
                  <a:cubicBezTo>
                    <a:pt x="774713" y="330191"/>
                    <a:pt x="683737" y="425425"/>
                    <a:pt x="571513" y="425425"/>
                  </a:cubicBezTo>
                  <a:lnTo>
                    <a:pt x="203200" y="425425"/>
                  </a:lnTo>
                  <a:cubicBezTo>
                    <a:pt x="90976" y="425425"/>
                    <a:pt x="0" y="330191"/>
                    <a:pt x="0" y="212713"/>
                  </a:cubicBezTo>
                  <a:cubicBezTo>
                    <a:pt x="0" y="9523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74713" cy="4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37149">
            <a:off x="798905" y="392089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 rot="-1248570">
            <a:off x="558321" y="6346755"/>
            <a:ext cx="2532247" cy="3608124"/>
          </a:xfrm>
          <a:custGeom>
            <a:avLst/>
            <a:gdLst/>
            <a:ahLst/>
            <a:cxnLst/>
            <a:rect l="l" t="t" r="r" b="b"/>
            <a:pathLst>
              <a:path w="2532247" h="3608124">
                <a:moveTo>
                  <a:pt x="0" y="0"/>
                </a:moveTo>
                <a:lnTo>
                  <a:pt x="2532248" y="0"/>
                </a:lnTo>
                <a:lnTo>
                  <a:pt x="2532248" y="3608124"/>
                </a:lnTo>
                <a:lnTo>
                  <a:pt x="0" y="36081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1690990" y="2737027"/>
            <a:ext cx="14846177" cy="5845682"/>
          </a:xfrm>
          <a:custGeom>
            <a:avLst/>
            <a:gdLst/>
            <a:ahLst/>
            <a:cxnLst/>
            <a:rect l="l" t="t" r="r" b="b"/>
            <a:pathLst>
              <a:path w="14846177" h="5845682">
                <a:moveTo>
                  <a:pt x="0" y="0"/>
                </a:moveTo>
                <a:lnTo>
                  <a:pt x="14846177" y="0"/>
                </a:lnTo>
                <a:lnTo>
                  <a:pt x="14846177" y="5845682"/>
                </a:lnTo>
                <a:lnTo>
                  <a:pt x="0" y="58456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TextBox 11"/>
          <p:cNvSpPr txBox="1"/>
          <p:nvPr/>
        </p:nvSpPr>
        <p:spPr>
          <a:xfrm>
            <a:off x="2806273" y="600635"/>
            <a:ext cx="12637084" cy="1671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Orthopedic Screening sub-process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0140" y="2560561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2598715" y="-615042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579465" y="198688"/>
            <a:ext cx="17310608" cy="9505931"/>
            <a:chOff x="0" y="0"/>
            <a:chExt cx="774713" cy="4254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4713" cy="425425"/>
            </a:xfrm>
            <a:custGeom>
              <a:avLst/>
              <a:gdLst/>
              <a:ahLst/>
              <a:cxnLst/>
              <a:rect l="l" t="t" r="r" b="b"/>
              <a:pathLst>
                <a:path w="774713" h="425425">
                  <a:moveTo>
                    <a:pt x="571513" y="0"/>
                  </a:moveTo>
                  <a:cubicBezTo>
                    <a:pt x="683737" y="0"/>
                    <a:pt x="774713" y="95235"/>
                    <a:pt x="774713" y="212713"/>
                  </a:cubicBezTo>
                  <a:cubicBezTo>
                    <a:pt x="774713" y="330191"/>
                    <a:pt x="683737" y="425425"/>
                    <a:pt x="571513" y="425425"/>
                  </a:cubicBezTo>
                  <a:lnTo>
                    <a:pt x="203200" y="425425"/>
                  </a:lnTo>
                  <a:cubicBezTo>
                    <a:pt x="90976" y="425425"/>
                    <a:pt x="0" y="330191"/>
                    <a:pt x="0" y="212713"/>
                  </a:cubicBezTo>
                  <a:cubicBezTo>
                    <a:pt x="0" y="9523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74713" cy="4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37149">
            <a:off x="798905" y="392089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 rot="-1248570">
            <a:off x="558321" y="6346755"/>
            <a:ext cx="2532247" cy="3608124"/>
          </a:xfrm>
          <a:custGeom>
            <a:avLst/>
            <a:gdLst/>
            <a:ahLst/>
            <a:cxnLst/>
            <a:rect l="l" t="t" r="r" b="b"/>
            <a:pathLst>
              <a:path w="2532247" h="3608124">
                <a:moveTo>
                  <a:pt x="0" y="0"/>
                </a:moveTo>
                <a:lnTo>
                  <a:pt x="2532248" y="0"/>
                </a:lnTo>
                <a:lnTo>
                  <a:pt x="2532248" y="3608124"/>
                </a:lnTo>
                <a:lnTo>
                  <a:pt x="0" y="36081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579465" y="3248178"/>
            <a:ext cx="17309464" cy="5084655"/>
          </a:xfrm>
          <a:custGeom>
            <a:avLst/>
            <a:gdLst/>
            <a:ahLst/>
            <a:cxnLst/>
            <a:rect l="l" t="t" r="r" b="b"/>
            <a:pathLst>
              <a:path w="17309464" h="5084655">
                <a:moveTo>
                  <a:pt x="0" y="0"/>
                </a:moveTo>
                <a:lnTo>
                  <a:pt x="17309463" y="0"/>
                </a:lnTo>
                <a:lnTo>
                  <a:pt x="17309463" y="5084654"/>
                </a:lnTo>
                <a:lnTo>
                  <a:pt x="0" y="50846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TextBox 11"/>
          <p:cNvSpPr txBox="1"/>
          <p:nvPr/>
        </p:nvSpPr>
        <p:spPr>
          <a:xfrm>
            <a:off x="2806273" y="600635"/>
            <a:ext cx="12637084" cy="1671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Radiology – CT scan (for surgery planning) sub-process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0140" y="2560561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2598715" y="-615042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579465" y="198688"/>
            <a:ext cx="17310608" cy="9505931"/>
            <a:chOff x="0" y="0"/>
            <a:chExt cx="774713" cy="4254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4713" cy="425425"/>
            </a:xfrm>
            <a:custGeom>
              <a:avLst/>
              <a:gdLst/>
              <a:ahLst/>
              <a:cxnLst/>
              <a:rect l="l" t="t" r="r" b="b"/>
              <a:pathLst>
                <a:path w="774713" h="425425">
                  <a:moveTo>
                    <a:pt x="571513" y="0"/>
                  </a:moveTo>
                  <a:cubicBezTo>
                    <a:pt x="683737" y="0"/>
                    <a:pt x="774713" y="95235"/>
                    <a:pt x="774713" y="212713"/>
                  </a:cubicBezTo>
                  <a:cubicBezTo>
                    <a:pt x="774713" y="330191"/>
                    <a:pt x="683737" y="425425"/>
                    <a:pt x="571513" y="425425"/>
                  </a:cubicBezTo>
                  <a:lnTo>
                    <a:pt x="203200" y="425425"/>
                  </a:lnTo>
                  <a:cubicBezTo>
                    <a:pt x="90976" y="425425"/>
                    <a:pt x="0" y="330191"/>
                    <a:pt x="0" y="212713"/>
                  </a:cubicBezTo>
                  <a:cubicBezTo>
                    <a:pt x="0" y="9523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74713" cy="4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37149">
            <a:off x="798905" y="392089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 rot="-1248570">
            <a:off x="558321" y="6346755"/>
            <a:ext cx="2532247" cy="3608124"/>
          </a:xfrm>
          <a:custGeom>
            <a:avLst/>
            <a:gdLst/>
            <a:ahLst/>
            <a:cxnLst/>
            <a:rect l="l" t="t" r="r" b="b"/>
            <a:pathLst>
              <a:path w="2532247" h="3608124">
                <a:moveTo>
                  <a:pt x="0" y="0"/>
                </a:moveTo>
                <a:lnTo>
                  <a:pt x="2532248" y="0"/>
                </a:lnTo>
                <a:lnTo>
                  <a:pt x="2532248" y="3608124"/>
                </a:lnTo>
                <a:lnTo>
                  <a:pt x="0" y="36081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1056045" y="2698435"/>
            <a:ext cx="16834028" cy="5951610"/>
          </a:xfrm>
          <a:custGeom>
            <a:avLst/>
            <a:gdLst/>
            <a:ahLst/>
            <a:cxnLst/>
            <a:rect l="l" t="t" r="r" b="b"/>
            <a:pathLst>
              <a:path w="16834028" h="5951610">
                <a:moveTo>
                  <a:pt x="0" y="0"/>
                </a:moveTo>
                <a:lnTo>
                  <a:pt x="16834028" y="0"/>
                </a:lnTo>
                <a:lnTo>
                  <a:pt x="16834028" y="5951610"/>
                </a:lnTo>
                <a:lnTo>
                  <a:pt x="0" y="59516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973" b="-1973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TextBox 11"/>
          <p:cNvSpPr txBox="1"/>
          <p:nvPr/>
        </p:nvSpPr>
        <p:spPr>
          <a:xfrm>
            <a:off x="2806273" y="600635"/>
            <a:ext cx="12637084" cy="1671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Orthopedy final evaluation sub-process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63445" y="-318668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568610" y="2766277"/>
            <a:ext cx="7399403" cy="11629710"/>
          </a:xfrm>
          <a:custGeom>
            <a:avLst/>
            <a:gdLst/>
            <a:ahLst/>
            <a:cxnLst/>
            <a:rect l="l" t="t" r="r" b="b"/>
            <a:pathLst>
              <a:path w="7399403" h="11629710">
                <a:moveTo>
                  <a:pt x="0" y="0"/>
                </a:moveTo>
                <a:lnTo>
                  <a:pt x="7399403" y="0"/>
                </a:lnTo>
                <a:lnTo>
                  <a:pt x="7399403" y="11629710"/>
                </a:lnTo>
                <a:lnTo>
                  <a:pt x="0" y="11629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2409235" y="4591506"/>
            <a:ext cx="5694209" cy="8280195"/>
            <a:chOff x="0" y="0"/>
            <a:chExt cx="812800" cy="11819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181927"/>
            </a:xfrm>
            <a:custGeom>
              <a:avLst/>
              <a:gdLst/>
              <a:ahLst/>
              <a:cxnLst/>
              <a:rect l="l" t="t" r="r" b="b"/>
              <a:pathLst>
                <a:path w="812800" h="1181927">
                  <a:moveTo>
                    <a:pt x="0" y="0"/>
                  </a:moveTo>
                  <a:lnTo>
                    <a:pt x="812800" y="0"/>
                  </a:lnTo>
                  <a:lnTo>
                    <a:pt x="812800" y="1181927"/>
                  </a:lnTo>
                  <a:lnTo>
                    <a:pt x="0" y="1181927"/>
                  </a:lnTo>
                  <a:close/>
                </a:path>
              </a:pathLst>
            </a:custGeom>
            <a:solidFill>
              <a:srgbClr val="E9EAF6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22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411095" y="2452589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8"/>
                </a:lnTo>
                <a:lnTo>
                  <a:pt x="0" y="7726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>
            <a:off x="9604302" y="4213702"/>
            <a:ext cx="7399403" cy="11629710"/>
          </a:xfrm>
          <a:custGeom>
            <a:avLst/>
            <a:gdLst/>
            <a:ahLst/>
            <a:cxnLst/>
            <a:rect l="l" t="t" r="r" b="b"/>
            <a:pathLst>
              <a:path w="7399403" h="11629710">
                <a:moveTo>
                  <a:pt x="0" y="0"/>
                </a:moveTo>
                <a:lnTo>
                  <a:pt x="7399403" y="0"/>
                </a:lnTo>
                <a:lnTo>
                  <a:pt x="7399403" y="11629709"/>
                </a:lnTo>
                <a:lnTo>
                  <a:pt x="0" y="116297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9" name="Group 9"/>
          <p:cNvGrpSpPr/>
          <p:nvPr/>
        </p:nvGrpSpPr>
        <p:grpSpPr>
          <a:xfrm>
            <a:off x="10444927" y="6038930"/>
            <a:ext cx="5694209" cy="8280195"/>
            <a:chOff x="0" y="0"/>
            <a:chExt cx="812800" cy="11819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181927"/>
            </a:xfrm>
            <a:custGeom>
              <a:avLst/>
              <a:gdLst/>
              <a:ahLst/>
              <a:cxnLst/>
              <a:rect l="l" t="t" r="r" b="b"/>
              <a:pathLst>
                <a:path w="812800" h="1181927">
                  <a:moveTo>
                    <a:pt x="0" y="0"/>
                  </a:moveTo>
                  <a:lnTo>
                    <a:pt x="812800" y="0"/>
                  </a:lnTo>
                  <a:lnTo>
                    <a:pt x="812800" y="1181927"/>
                  </a:lnTo>
                  <a:lnTo>
                    <a:pt x="0" y="1181927"/>
                  </a:lnTo>
                  <a:close/>
                </a:path>
              </a:pathLst>
            </a:custGeom>
            <a:solidFill>
              <a:srgbClr val="E9EAF6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122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257881">
            <a:off x="-746181" y="2077712"/>
            <a:ext cx="3549762" cy="3440042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3" name="Freeform 13"/>
          <p:cNvSpPr/>
          <p:nvPr/>
        </p:nvSpPr>
        <p:spPr>
          <a:xfrm rot="-137149">
            <a:off x="9171401" y="3701601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4" name="TextBox 14"/>
          <p:cNvSpPr txBox="1"/>
          <p:nvPr/>
        </p:nvSpPr>
        <p:spPr>
          <a:xfrm>
            <a:off x="2673835" y="4670206"/>
            <a:ext cx="5188954" cy="1836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7"/>
              </a:lnSpc>
            </a:pPr>
            <a:r>
              <a:rPr lang="en-US" sz="2633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Value-Added Analysis</a:t>
            </a:r>
            <a:r>
              <a:rPr lang="en-US" sz="2633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: The process is patient-centered but contains Non-Value-Adding (NVA) operational waste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75008" y="6726505"/>
            <a:ext cx="4925174" cy="306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Key Issues (Issue Register):</a:t>
            </a:r>
          </a:p>
          <a:p>
            <a:pPr marL="539749" lvl="1" indent="-269875" algn="ctr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Excessive Waiting Times</a:t>
            </a: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: Long waits between clinical stages.</a:t>
            </a:r>
          </a:p>
          <a:p>
            <a:pPr marL="539749" lvl="1" indent="-269875" algn="ctr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Radiology Bottleneck</a:t>
            </a: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: Workload concentration and repetitive patient movements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89954" y="-125511"/>
            <a:ext cx="14228697" cy="496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799"/>
              </a:lnSpc>
            </a:pPr>
            <a:r>
              <a:rPr lang="en-US" sz="6999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Qualitative Analysis (Issues Identified)</a:t>
            </a:r>
          </a:p>
          <a:p>
            <a:pPr marL="1511299" lvl="1" indent="-755650" algn="r">
              <a:lnSpc>
                <a:spcPts val="9799"/>
              </a:lnSpc>
              <a:buFont typeface="Arial"/>
              <a:buChar char="•"/>
            </a:pPr>
            <a:endParaRPr lang="en-US" sz="6999">
              <a:solidFill>
                <a:srgbClr val="222366"/>
              </a:solidFill>
              <a:latin typeface="Brick Sans"/>
              <a:ea typeface="Brick Sans"/>
              <a:cs typeface="Brick Sans"/>
              <a:sym typeface="Brick Sans"/>
            </a:endParaRPr>
          </a:p>
          <a:p>
            <a:pPr algn="r">
              <a:lnSpc>
                <a:spcPts val="9799"/>
              </a:lnSpc>
            </a:pPr>
            <a:endParaRPr lang="en-US" sz="6999">
              <a:solidFill>
                <a:srgbClr val="222366"/>
              </a:solidFill>
              <a:latin typeface="Brick Sans"/>
              <a:ea typeface="Brick Sans"/>
              <a:cs typeface="Brick Sans"/>
              <a:sym typeface="Brick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721834" y="6258658"/>
            <a:ext cx="4925174" cy="306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endParaRPr/>
          </a:p>
          <a:p>
            <a:pPr marL="539749" lvl="1" indent="-269875" algn="ctr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External Dependency: </a:t>
            </a: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Delays due to external CT reporting</a:t>
            </a:r>
          </a:p>
          <a:p>
            <a:pPr marL="539749" lvl="1" indent="-269875" algn="ctr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Patient Movement: </a:t>
            </a: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Patients cross departments 4-6 times per visit.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37454" y="1839336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flipH="1">
            <a:off x="-4961399" y="1040440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7876905" y="0"/>
                </a:moveTo>
                <a:lnTo>
                  <a:pt x="0" y="0"/>
                </a:lnTo>
                <a:lnTo>
                  <a:pt x="0" y="7726439"/>
                </a:lnTo>
                <a:lnTo>
                  <a:pt x="7876905" y="7726439"/>
                </a:lnTo>
                <a:lnTo>
                  <a:pt x="787690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028700" y="414431"/>
            <a:ext cx="7082961" cy="3058022"/>
            <a:chOff x="0" y="0"/>
            <a:chExt cx="883555" cy="3814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3555" cy="381469"/>
            </a:xfrm>
            <a:custGeom>
              <a:avLst/>
              <a:gdLst/>
              <a:ahLst/>
              <a:cxnLst/>
              <a:rect l="l" t="t" r="r" b="b"/>
              <a:pathLst>
                <a:path w="883555" h="381469">
                  <a:moveTo>
                    <a:pt x="680355" y="0"/>
                  </a:moveTo>
                  <a:cubicBezTo>
                    <a:pt x="792579" y="0"/>
                    <a:pt x="883555" y="85395"/>
                    <a:pt x="883555" y="190734"/>
                  </a:cubicBezTo>
                  <a:cubicBezTo>
                    <a:pt x="883555" y="296074"/>
                    <a:pt x="792579" y="381469"/>
                    <a:pt x="680355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83555" cy="41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H="1">
            <a:off x="13535725" y="3982158"/>
            <a:ext cx="4752275" cy="6304842"/>
          </a:xfrm>
          <a:custGeom>
            <a:avLst/>
            <a:gdLst/>
            <a:ahLst/>
            <a:cxnLst/>
            <a:rect l="l" t="t" r="r" b="b"/>
            <a:pathLst>
              <a:path w="4752275" h="6304842">
                <a:moveTo>
                  <a:pt x="4752275" y="0"/>
                </a:moveTo>
                <a:lnTo>
                  <a:pt x="0" y="0"/>
                </a:lnTo>
                <a:lnTo>
                  <a:pt x="0" y="6304842"/>
                </a:lnTo>
                <a:lnTo>
                  <a:pt x="4752275" y="6304842"/>
                </a:lnTo>
                <a:lnTo>
                  <a:pt x="475227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 rot="-1248570">
            <a:off x="14319081" y="6764744"/>
            <a:ext cx="2099363" cy="2991320"/>
          </a:xfrm>
          <a:custGeom>
            <a:avLst/>
            <a:gdLst/>
            <a:ahLst/>
            <a:cxnLst/>
            <a:rect l="l" t="t" r="r" b="b"/>
            <a:pathLst>
              <a:path w="2099363" h="2991320">
                <a:moveTo>
                  <a:pt x="0" y="0"/>
                </a:moveTo>
                <a:lnTo>
                  <a:pt x="2099363" y="0"/>
                </a:lnTo>
                <a:lnTo>
                  <a:pt x="2099363" y="2991320"/>
                </a:lnTo>
                <a:lnTo>
                  <a:pt x="0" y="29913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 rot="-137149">
            <a:off x="16001738" y="5585294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 rot="855077">
            <a:off x="-761394" y="5781721"/>
            <a:ext cx="2066999" cy="2383332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Freeform 11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2" name="Freeform 12"/>
          <p:cNvSpPr/>
          <p:nvPr/>
        </p:nvSpPr>
        <p:spPr>
          <a:xfrm>
            <a:off x="200461" y="4104718"/>
            <a:ext cx="12873986" cy="5294427"/>
          </a:xfrm>
          <a:custGeom>
            <a:avLst/>
            <a:gdLst/>
            <a:ahLst/>
            <a:cxnLst/>
            <a:rect l="l" t="t" r="r" b="b"/>
            <a:pathLst>
              <a:path w="12873986" h="5294427">
                <a:moveTo>
                  <a:pt x="0" y="0"/>
                </a:moveTo>
                <a:lnTo>
                  <a:pt x="12873985" y="0"/>
                </a:lnTo>
                <a:lnTo>
                  <a:pt x="12873985" y="5294426"/>
                </a:lnTo>
                <a:lnTo>
                  <a:pt x="0" y="52944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3" name="TextBox 13"/>
          <p:cNvSpPr txBox="1"/>
          <p:nvPr/>
        </p:nvSpPr>
        <p:spPr>
          <a:xfrm>
            <a:off x="1689650" y="822667"/>
            <a:ext cx="5761060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Input Data</a:t>
            </a:r>
            <a:r>
              <a:rPr lang="en-US" sz="2499" dirty="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:</a:t>
            </a: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Average of 70 patients/12h shift </a:t>
            </a: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Poisson Distribution</a:t>
            </a: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Mean arrival rate (λ </a:t>
            </a:r>
            <a:r>
              <a:rPr lang="en-US" sz="2499" dirty="0" err="1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approx</a:t>
            </a:r>
            <a:r>
              <a:rPr lang="en-US" sz="2499" dirty="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 0.097)</a:t>
            </a: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Mean inter-arrival time (1/λ) = 10.3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83257" y="116229"/>
            <a:ext cx="9319484" cy="347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100"/>
              </a:lnSpc>
            </a:pPr>
            <a:r>
              <a:rPr lang="en-US" sz="6500" dirty="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Quantitative Analysis (AS-IS Baseline)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784F4A-7823-40D1-7256-88FD6DA77971}"/>
              </a:ext>
            </a:extLst>
          </p:cNvPr>
          <p:cNvSpPr txBox="1"/>
          <p:nvPr/>
        </p:nvSpPr>
        <p:spPr>
          <a:xfrm>
            <a:off x="224522" y="9319554"/>
            <a:ext cx="30878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 dirty="0">
                <a:solidFill>
                  <a:schemeClr val="tx2">
                    <a:lumMod val="75000"/>
                  </a:schemeClr>
                </a:solidFill>
              </a:rPr>
              <a:t>AS-IS </a:t>
            </a:r>
            <a:r>
              <a:rPr lang="pt-PT" sz="1000" b="1" dirty="0" err="1">
                <a:solidFill>
                  <a:schemeClr val="tx2">
                    <a:lumMod val="75000"/>
                  </a:schemeClr>
                </a:solidFill>
              </a:rPr>
              <a:t>Simulation</a:t>
            </a:r>
            <a:r>
              <a:rPr lang="pt-PT" sz="1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PT" sz="1000" b="1" dirty="0" err="1">
                <a:solidFill>
                  <a:schemeClr val="tx2">
                    <a:lumMod val="75000"/>
                  </a:schemeClr>
                </a:solidFill>
              </a:rPr>
              <a:t>diagram</a:t>
            </a:r>
            <a:endParaRPr lang="pt-PT" sz="1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37454" y="1839336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flipH="1">
            <a:off x="-4961399" y="1040440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7876905" y="0"/>
                </a:moveTo>
                <a:lnTo>
                  <a:pt x="0" y="0"/>
                </a:lnTo>
                <a:lnTo>
                  <a:pt x="0" y="7726439"/>
                </a:lnTo>
                <a:lnTo>
                  <a:pt x="7876905" y="7726439"/>
                </a:lnTo>
                <a:lnTo>
                  <a:pt x="787690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028700" y="414431"/>
            <a:ext cx="7082961" cy="3058022"/>
            <a:chOff x="0" y="0"/>
            <a:chExt cx="883555" cy="3814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3555" cy="381469"/>
            </a:xfrm>
            <a:custGeom>
              <a:avLst/>
              <a:gdLst/>
              <a:ahLst/>
              <a:cxnLst/>
              <a:rect l="l" t="t" r="r" b="b"/>
              <a:pathLst>
                <a:path w="883555" h="381469">
                  <a:moveTo>
                    <a:pt x="680355" y="0"/>
                  </a:moveTo>
                  <a:cubicBezTo>
                    <a:pt x="792579" y="0"/>
                    <a:pt x="883555" y="85395"/>
                    <a:pt x="883555" y="190734"/>
                  </a:cubicBezTo>
                  <a:cubicBezTo>
                    <a:pt x="883555" y="296074"/>
                    <a:pt x="792579" y="381469"/>
                    <a:pt x="680355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83555" cy="41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3693909"/>
            <a:ext cx="7082961" cy="3058022"/>
            <a:chOff x="0" y="0"/>
            <a:chExt cx="883555" cy="3814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3555" cy="381469"/>
            </a:xfrm>
            <a:custGeom>
              <a:avLst/>
              <a:gdLst/>
              <a:ahLst/>
              <a:cxnLst/>
              <a:rect l="l" t="t" r="r" b="b"/>
              <a:pathLst>
                <a:path w="883555" h="381469">
                  <a:moveTo>
                    <a:pt x="680355" y="0"/>
                  </a:moveTo>
                  <a:cubicBezTo>
                    <a:pt x="792579" y="0"/>
                    <a:pt x="883555" y="85395"/>
                    <a:pt x="883555" y="190734"/>
                  </a:cubicBezTo>
                  <a:cubicBezTo>
                    <a:pt x="883555" y="296074"/>
                    <a:pt x="792579" y="381469"/>
                    <a:pt x="680355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83555" cy="41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6973387"/>
            <a:ext cx="7082961" cy="3058022"/>
            <a:chOff x="0" y="0"/>
            <a:chExt cx="883555" cy="3814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3555" cy="381469"/>
            </a:xfrm>
            <a:custGeom>
              <a:avLst/>
              <a:gdLst/>
              <a:ahLst/>
              <a:cxnLst/>
              <a:rect l="l" t="t" r="r" b="b"/>
              <a:pathLst>
                <a:path w="883555" h="381469">
                  <a:moveTo>
                    <a:pt x="680355" y="0"/>
                  </a:moveTo>
                  <a:cubicBezTo>
                    <a:pt x="792579" y="0"/>
                    <a:pt x="883555" y="85395"/>
                    <a:pt x="883555" y="190734"/>
                  </a:cubicBezTo>
                  <a:cubicBezTo>
                    <a:pt x="883555" y="296074"/>
                    <a:pt x="792579" y="381469"/>
                    <a:pt x="680355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83555" cy="41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8690379" y="4903660"/>
            <a:ext cx="4752275" cy="6304842"/>
          </a:xfrm>
          <a:custGeom>
            <a:avLst/>
            <a:gdLst/>
            <a:ahLst/>
            <a:cxnLst/>
            <a:rect l="l" t="t" r="r" b="b"/>
            <a:pathLst>
              <a:path w="4752275" h="6304842">
                <a:moveTo>
                  <a:pt x="4752275" y="0"/>
                </a:moveTo>
                <a:lnTo>
                  <a:pt x="0" y="0"/>
                </a:lnTo>
                <a:lnTo>
                  <a:pt x="0" y="6304842"/>
                </a:lnTo>
                <a:lnTo>
                  <a:pt x="4752275" y="6304842"/>
                </a:lnTo>
                <a:lnTo>
                  <a:pt x="475227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4" name="Freeform 14"/>
          <p:cNvSpPr/>
          <p:nvPr/>
        </p:nvSpPr>
        <p:spPr>
          <a:xfrm rot="-1248570">
            <a:off x="14319081" y="6764744"/>
            <a:ext cx="2099363" cy="2991320"/>
          </a:xfrm>
          <a:custGeom>
            <a:avLst/>
            <a:gdLst/>
            <a:ahLst/>
            <a:cxnLst/>
            <a:rect l="l" t="t" r="r" b="b"/>
            <a:pathLst>
              <a:path w="2099363" h="2991320">
                <a:moveTo>
                  <a:pt x="0" y="0"/>
                </a:moveTo>
                <a:lnTo>
                  <a:pt x="2099363" y="0"/>
                </a:lnTo>
                <a:lnTo>
                  <a:pt x="2099363" y="2991320"/>
                </a:lnTo>
                <a:lnTo>
                  <a:pt x="0" y="29913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5" name="Freeform 15"/>
          <p:cNvSpPr/>
          <p:nvPr/>
        </p:nvSpPr>
        <p:spPr>
          <a:xfrm rot="-137149">
            <a:off x="16001738" y="5585294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6" name="Freeform 16"/>
          <p:cNvSpPr/>
          <p:nvPr/>
        </p:nvSpPr>
        <p:spPr>
          <a:xfrm rot="855077">
            <a:off x="-761394" y="5781721"/>
            <a:ext cx="2066999" cy="2383332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7" name="Freeform 17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8" name="Freeform 18"/>
          <p:cNvSpPr/>
          <p:nvPr/>
        </p:nvSpPr>
        <p:spPr>
          <a:xfrm>
            <a:off x="6343812" y="1629592"/>
            <a:ext cx="293642" cy="419489"/>
          </a:xfrm>
          <a:custGeom>
            <a:avLst/>
            <a:gdLst/>
            <a:ahLst/>
            <a:cxnLst/>
            <a:rect l="l" t="t" r="r" b="b"/>
            <a:pathLst>
              <a:path w="293642" h="419489">
                <a:moveTo>
                  <a:pt x="0" y="0"/>
                </a:moveTo>
                <a:lnTo>
                  <a:pt x="293642" y="0"/>
                </a:lnTo>
                <a:lnTo>
                  <a:pt x="293642" y="419488"/>
                </a:lnTo>
                <a:lnTo>
                  <a:pt x="0" y="41948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9" name="TextBox 19"/>
          <p:cNvSpPr txBox="1"/>
          <p:nvPr/>
        </p:nvSpPr>
        <p:spPr>
          <a:xfrm>
            <a:off x="1689650" y="822667"/>
            <a:ext cx="5761060" cy="262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Input Data</a:t>
            </a: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: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4 What-if:</a:t>
            </a:r>
          </a:p>
          <a:p>
            <a:pPr marL="539749" lvl="1" indent="-269875" algn="ctr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- 1 Receptionist </a:t>
            </a:r>
          </a:p>
          <a:p>
            <a:pPr marL="539749" lvl="1" indent="-269875" algn="ctr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- 2 Receptionists</a:t>
            </a:r>
          </a:p>
          <a:p>
            <a:pPr marL="539749" lvl="1" indent="-269875" algn="ctr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+ 1 Doctor</a:t>
            </a:r>
          </a:p>
          <a:p>
            <a:pPr marL="539749" lvl="1" indent="-269875" algn="ctr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Elimination of taks</a:t>
            </a:r>
          </a:p>
        </p:txBody>
      </p:sp>
      <p:sp>
        <p:nvSpPr>
          <p:cNvPr id="20" name="Freeform 20"/>
          <p:cNvSpPr/>
          <p:nvPr/>
        </p:nvSpPr>
        <p:spPr>
          <a:xfrm>
            <a:off x="6343812" y="1629592"/>
            <a:ext cx="293642" cy="419489"/>
          </a:xfrm>
          <a:custGeom>
            <a:avLst/>
            <a:gdLst/>
            <a:ahLst/>
            <a:cxnLst/>
            <a:rect l="l" t="t" r="r" b="b"/>
            <a:pathLst>
              <a:path w="293642" h="419489">
                <a:moveTo>
                  <a:pt x="0" y="0"/>
                </a:moveTo>
                <a:lnTo>
                  <a:pt x="293642" y="0"/>
                </a:lnTo>
                <a:lnTo>
                  <a:pt x="293642" y="419488"/>
                </a:lnTo>
                <a:lnTo>
                  <a:pt x="0" y="41948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1" name="Freeform 21"/>
          <p:cNvSpPr/>
          <p:nvPr/>
        </p:nvSpPr>
        <p:spPr>
          <a:xfrm>
            <a:off x="6343812" y="2606239"/>
            <a:ext cx="293642" cy="419489"/>
          </a:xfrm>
          <a:custGeom>
            <a:avLst/>
            <a:gdLst/>
            <a:ahLst/>
            <a:cxnLst/>
            <a:rect l="l" t="t" r="r" b="b"/>
            <a:pathLst>
              <a:path w="293642" h="419489">
                <a:moveTo>
                  <a:pt x="0" y="0"/>
                </a:moveTo>
                <a:lnTo>
                  <a:pt x="293642" y="0"/>
                </a:lnTo>
                <a:lnTo>
                  <a:pt x="293642" y="419489"/>
                </a:lnTo>
                <a:lnTo>
                  <a:pt x="0" y="41948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2" name="Freeform 22"/>
          <p:cNvSpPr/>
          <p:nvPr/>
        </p:nvSpPr>
        <p:spPr>
          <a:xfrm>
            <a:off x="6349391" y="3025728"/>
            <a:ext cx="293642" cy="419489"/>
          </a:xfrm>
          <a:custGeom>
            <a:avLst/>
            <a:gdLst/>
            <a:ahLst/>
            <a:cxnLst/>
            <a:rect l="l" t="t" r="r" b="b"/>
            <a:pathLst>
              <a:path w="293642" h="419489">
                <a:moveTo>
                  <a:pt x="0" y="0"/>
                </a:moveTo>
                <a:lnTo>
                  <a:pt x="293642" y="0"/>
                </a:lnTo>
                <a:lnTo>
                  <a:pt x="293642" y="419489"/>
                </a:lnTo>
                <a:lnTo>
                  <a:pt x="0" y="41948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3" name="Freeform 23"/>
          <p:cNvSpPr/>
          <p:nvPr/>
        </p:nvSpPr>
        <p:spPr>
          <a:xfrm>
            <a:off x="6343812" y="2138206"/>
            <a:ext cx="266613" cy="378908"/>
          </a:xfrm>
          <a:custGeom>
            <a:avLst/>
            <a:gdLst/>
            <a:ahLst/>
            <a:cxnLst/>
            <a:rect l="l" t="t" r="r" b="b"/>
            <a:pathLst>
              <a:path w="266613" h="378908">
                <a:moveTo>
                  <a:pt x="0" y="0"/>
                </a:moveTo>
                <a:lnTo>
                  <a:pt x="266613" y="0"/>
                </a:lnTo>
                <a:lnTo>
                  <a:pt x="266613" y="378908"/>
                </a:lnTo>
                <a:lnTo>
                  <a:pt x="0" y="37890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4" name="Freeform 24"/>
          <p:cNvSpPr/>
          <p:nvPr/>
        </p:nvSpPr>
        <p:spPr>
          <a:xfrm rot="-7786365">
            <a:off x="6444159" y="1998158"/>
            <a:ext cx="686502" cy="582902"/>
          </a:xfrm>
          <a:custGeom>
            <a:avLst/>
            <a:gdLst/>
            <a:ahLst/>
            <a:cxnLst/>
            <a:rect l="l" t="t" r="r" b="b"/>
            <a:pathLst>
              <a:path w="686502" h="582902">
                <a:moveTo>
                  <a:pt x="0" y="0"/>
                </a:moveTo>
                <a:lnTo>
                  <a:pt x="686502" y="0"/>
                </a:lnTo>
                <a:lnTo>
                  <a:pt x="686502" y="582902"/>
                </a:lnTo>
                <a:lnTo>
                  <a:pt x="0" y="58290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5" name="TextBox 25"/>
          <p:cNvSpPr txBox="1"/>
          <p:nvPr/>
        </p:nvSpPr>
        <p:spPr>
          <a:xfrm>
            <a:off x="1689650" y="3924556"/>
            <a:ext cx="5761060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Simulation Results:</a:t>
            </a: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222366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marL="539749" lvl="1" indent="-269875" algn="ctr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Throughput: </a:t>
            </a: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Only 59 of 70 patients complete the process per shift.</a:t>
            </a:r>
          </a:p>
          <a:p>
            <a:pPr marL="539749" lvl="1" indent="-269875" algn="ctr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Avg. Cycle Time</a:t>
            </a: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: 2h 14m 24s.</a:t>
            </a:r>
          </a:p>
          <a:p>
            <a:pPr algn="ctr">
              <a:lnSpc>
                <a:spcPts val="3499"/>
              </a:lnSpc>
            </a:pPr>
            <a:endParaRPr lang="en-US" sz="2499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ctr">
              <a:lnSpc>
                <a:spcPts val="3499"/>
              </a:lnSpc>
            </a:pPr>
            <a:endParaRPr lang="en-US" sz="2499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689650" y="7600698"/>
            <a:ext cx="5761060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Resource Utilizatio</a:t>
            </a: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n: High strain on Orthopedists (86.77%) and Radiology Techs (73.26%); Low utilization for Receptionists (23.97%)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83257" y="116229"/>
            <a:ext cx="9319484" cy="347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100"/>
              </a:lnSpc>
            </a:pPr>
            <a:r>
              <a:rPr lang="en-US" sz="65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Quantitative Analysis (AS-IS Baseline)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37454" y="1839336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flipH="1">
            <a:off x="-4961399" y="1040440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7876905" y="0"/>
                </a:moveTo>
                <a:lnTo>
                  <a:pt x="0" y="0"/>
                </a:lnTo>
                <a:lnTo>
                  <a:pt x="0" y="7726439"/>
                </a:lnTo>
                <a:lnTo>
                  <a:pt x="7876905" y="7726439"/>
                </a:lnTo>
                <a:lnTo>
                  <a:pt x="787690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665625" y="2983557"/>
            <a:ext cx="7082961" cy="5160830"/>
            <a:chOff x="0" y="0"/>
            <a:chExt cx="883555" cy="64378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3555" cy="643781"/>
            </a:xfrm>
            <a:custGeom>
              <a:avLst/>
              <a:gdLst/>
              <a:ahLst/>
              <a:cxnLst/>
              <a:rect l="l" t="t" r="r" b="b"/>
              <a:pathLst>
                <a:path w="883555" h="643781">
                  <a:moveTo>
                    <a:pt x="680355" y="0"/>
                  </a:moveTo>
                  <a:cubicBezTo>
                    <a:pt x="792579" y="0"/>
                    <a:pt x="883555" y="144115"/>
                    <a:pt x="883555" y="321891"/>
                  </a:cubicBezTo>
                  <a:cubicBezTo>
                    <a:pt x="883555" y="499666"/>
                    <a:pt x="792579" y="643781"/>
                    <a:pt x="680355" y="643781"/>
                  </a:cubicBezTo>
                  <a:lnTo>
                    <a:pt x="203200" y="643781"/>
                  </a:lnTo>
                  <a:cubicBezTo>
                    <a:pt x="90976" y="643781"/>
                    <a:pt x="0" y="499666"/>
                    <a:pt x="0" y="321891"/>
                  </a:cubicBezTo>
                  <a:cubicBezTo>
                    <a:pt x="0" y="1441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83555" cy="681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248570">
            <a:off x="14319081" y="6764744"/>
            <a:ext cx="2099363" cy="2991320"/>
          </a:xfrm>
          <a:custGeom>
            <a:avLst/>
            <a:gdLst/>
            <a:ahLst/>
            <a:cxnLst/>
            <a:rect l="l" t="t" r="r" b="b"/>
            <a:pathLst>
              <a:path w="2099363" h="2991320">
                <a:moveTo>
                  <a:pt x="0" y="0"/>
                </a:moveTo>
                <a:lnTo>
                  <a:pt x="2099363" y="0"/>
                </a:lnTo>
                <a:lnTo>
                  <a:pt x="2099363" y="2991320"/>
                </a:lnTo>
                <a:lnTo>
                  <a:pt x="0" y="2991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 rot="-137149">
            <a:off x="16001738" y="5585294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 rot="855077">
            <a:off x="-761394" y="5781721"/>
            <a:ext cx="2066999" cy="2383332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8061437" y="2085478"/>
            <a:ext cx="10055314" cy="5555561"/>
          </a:xfrm>
          <a:custGeom>
            <a:avLst/>
            <a:gdLst/>
            <a:ahLst/>
            <a:cxnLst/>
            <a:rect l="l" t="t" r="r" b="b"/>
            <a:pathLst>
              <a:path w="10055314" h="5555561">
                <a:moveTo>
                  <a:pt x="0" y="0"/>
                </a:moveTo>
                <a:lnTo>
                  <a:pt x="10055314" y="0"/>
                </a:lnTo>
                <a:lnTo>
                  <a:pt x="10055314" y="5555561"/>
                </a:lnTo>
                <a:lnTo>
                  <a:pt x="0" y="55555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TextBox 11"/>
          <p:cNvSpPr txBox="1"/>
          <p:nvPr/>
        </p:nvSpPr>
        <p:spPr>
          <a:xfrm>
            <a:off x="1326576" y="3226691"/>
            <a:ext cx="5761060" cy="489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Heuristics Applied:</a:t>
            </a: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Re-sequencing</a:t>
            </a:r>
            <a:r>
              <a:rPr lang="en-US" sz="210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 (Knock-out): Early "Hospital Area" check filters 30% of surgical cases, avoiding unnecessary planning steps .</a:t>
            </a:r>
          </a:p>
          <a:p>
            <a:pPr algn="ctr">
              <a:lnSpc>
                <a:spcPts val="2940"/>
              </a:lnSpc>
            </a:pPr>
            <a:endParaRPr lang="en-US" sz="2100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Re-sequencing</a:t>
            </a:r>
            <a:r>
              <a:rPr lang="en-US" sz="210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 (Decision): "Need Surgery?" check moved earlier to skip redundant X-Ray prescriptions .</a:t>
            </a:r>
          </a:p>
          <a:p>
            <a:pPr algn="ctr">
              <a:lnSpc>
                <a:spcPts val="2940"/>
              </a:lnSpc>
            </a:pPr>
            <a:endParaRPr lang="en-US" sz="2100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Parallelism</a:t>
            </a:r>
            <a:r>
              <a:rPr lang="en-US" sz="2100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: X-Ray and CT scans now run in parallel for surgical patients, reducing lead time </a:t>
            </a:r>
          </a:p>
          <a:p>
            <a:pPr algn="ctr">
              <a:lnSpc>
                <a:spcPts val="3499"/>
              </a:lnSpc>
            </a:pPr>
            <a:endParaRPr lang="en-US" sz="2100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26576" y="197228"/>
            <a:ext cx="15080545" cy="116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100"/>
              </a:lnSpc>
            </a:pPr>
            <a:r>
              <a:rPr lang="en-US" sz="65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Redesign Heuristics (TO-BE)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C7BBF3-C67B-3BB1-538D-DD73EFDD9DFB}"/>
              </a:ext>
            </a:extLst>
          </p:cNvPr>
          <p:cNvSpPr txBox="1"/>
          <p:nvPr/>
        </p:nvSpPr>
        <p:spPr>
          <a:xfrm>
            <a:off x="8099537" y="7690020"/>
            <a:ext cx="30878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 dirty="0">
                <a:solidFill>
                  <a:schemeClr val="tx2">
                    <a:lumMod val="75000"/>
                  </a:schemeClr>
                </a:solidFill>
              </a:rPr>
              <a:t>TO-BE </a:t>
            </a:r>
            <a:r>
              <a:rPr lang="pt-PT" sz="1000" b="1" dirty="0" err="1">
                <a:solidFill>
                  <a:schemeClr val="tx2">
                    <a:lumMod val="75000"/>
                  </a:schemeClr>
                </a:solidFill>
              </a:rPr>
              <a:t>Simulation</a:t>
            </a:r>
            <a:r>
              <a:rPr lang="pt-PT" sz="1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PT" sz="1000" b="1" dirty="0" err="1">
                <a:solidFill>
                  <a:schemeClr val="tx2">
                    <a:lumMod val="75000"/>
                  </a:schemeClr>
                </a:solidFill>
              </a:rPr>
              <a:t>diagram</a:t>
            </a:r>
            <a:endParaRPr lang="pt-PT" sz="1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37454" y="1839336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flipH="1">
            <a:off x="-4961399" y="1040440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7876905" y="0"/>
                </a:moveTo>
                <a:lnTo>
                  <a:pt x="0" y="0"/>
                </a:lnTo>
                <a:lnTo>
                  <a:pt x="0" y="7726439"/>
                </a:lnTo>
                <a:lnTo>
                  <a:pt x="7876905" y="7726439"/>
                </a:lnTo>
                <a:lnTo>
                  <a:pt x="787690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272106" y="1165420"/>
            <a:ext cx="15857873" cy="673916"/>
            <a:chOff x="0" y="0"/>
            <a:chExt cx="1978170" cy="840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78170" cy="84067"/>
            </a:xfrm>
            <a:custGeom>
              <a:avLst/>
              <a:gdLst/>
              <a:ahLst/>
              <a:cxnLst/>
              <a:rect l="l" t="t" r="r" b="b"/>
              <a:pathLst>
                <a:path w="1978170" h="84067">
                  <a:moveTo>
                    <a:pt x="1774970" y="0"/>
                  </a:moveTo>
                  <a:cubicBezTo>
                    <a:pt x="1887194" y="0"/>
                    <a:pt x="1978170" y="18819"/>
                    <a:pt x="1978170" y="42033"/>
                  </a:cubicBezTo>
                  <a:cubicBezTo>
                    <a:pt x="1978170" y="65248"/>
                    <a:pt x="1887194" y="84067"/>
                    <a:pt x="1774970" y="84067"/>
                  </a:cubicBezTo>
                  <a:lnTo>
                    <a:pt x="203200" y="84067"/>
                  </a:lnTo>
                  <a:cubicBezTo>
                    <a:pt x="90976" y="84067"/>
                    <a:pt x="0" y="65248"/>
                    <a:pt x="0" y="42033"/>
                  </a:cubicBezTo>
                  <a:cubicBezTo>
                    <a:pt x="0" y="1881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78170" cy="122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248570">
            <a:off x="14319081" y="6764744"/>
            <a:ext cx="2099363" cy="2991320"/>
          </a:xfrm>
          <a:custGeom>
            <a:avLst/>
            <a:gdLst/>
            <a:ahLst/>
            <a:cxnLst/>
            <a:rect l="l" t="t" r="r" b="b"/>
            <a:pathLst>
              <a:path w="2099363" h="2991320">
                <a:moveTo>
                  <a:pt x="0" y="0"/>
                </a:moveTo>
                <a:lnTo>
                  <a:pt x="2099363" y="0"/>
                </a:lnTo>
                <a:lnTo>
                  <a:pt x="2099363" y="2991320"/>
                </a:lnTo>
                <a:lnTo>
                  <a:pt x="0" y="2991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 rot="-137149">
            <a:off x="16001738" y="5585294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 rot="855077">
            <a:off x="-761394" y="5781721"/>
            <a:ext cx="2066999" cy="2383332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Freeform 11"/>
          <p:cNvSpPr/>
          <p:nvPr/>
        </p:nvSpPr>
        <p:spPr>
          <a:xfrm>
            <a:off x="1067695" y="2350536"/>
            <a:ext cx="15062283" cy="5855463"/>
          </a:xfrm>
          <a:custGeom>
            <a:avLst/>
            <a:gdLst/>
            <a:ahLst/>
            <a:cxnLst/>
            <a:rect l="l" t="t" r="r" b="b"/>
            <a:pathLst>
              <a:path w="15062283" h="5855463">
                <a:moveTo>
                  <a:pt x="0" y="0"/>
                </a:moveTo>
                <a:lnTo>
                  <a:pt x="15062283" y="0"/>
                </a:lnTo>
                <a:lnTo>
                  <a:pt x="15062283" y="5855462"/>
                </a:lnTo>
                <a:lnTo>
                  <a:pt x="0" y="585546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2" name="TextBox 12"/>
          <p:cNvSpPr txBox="1"/>
          <p:nvPr/>
        </p:nvSpPr>
        <p:spPr>
          <a:xfrm>
            <a:off x="617394" y="1223495"/>
            <a:ext cx="15826348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Due to these flow changes, 3 New Sub-processes were created for the TO-BE model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67158" y="135252"/>
            <a:ext cx="14506158" cy="768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953"/>
              </a:lnSpc>
            </a:pPr>
            <a:r>
              <a:rPr lang="en-US" sz="4252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 New Sub-processes for the TO-BE model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49725" y="8717198"/>
            <a:ext cx="4542939" cy="1126924"/>
            <a:chOff x="0" y="0"/>
            <a:chExt cx="883555" cy="2191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3555" cy="219175"/>
            </a:xfrm>
            <a:custGeom>
              <a:avLst/>
              <a:gdLst/>
              <a:ahLst/>
              <a:cxnLst/>
              <a:rect l="l" t="t" r="r" b="b"/>
              <a:pathLst>
                <a:path w="883555" h="219175">
                  <a:moveTo>
                    <a:pt x="680355" y="0"/>
                  </a:moveTo>
                  <a:cubicBezTo>
                    <a:pt x="792579" y="0"/>
                    <a:pt x="883555" y="49064"/>
                    <a:pt x="883555" y="109588"/>
                  </a:cubicBezTo>
                  <a:cubicBezTo>
                    <a:pt x="883555" y="170111"/>
                    <a:pt x="792579" y="219175"/>
                    <a:pt x="680355" y="219175"/>
                  </a:cubicBezTo>
                  <a:lnTo>
                    <a:pt x="203200" y="219175"/>
                  </a:lnTo>
                  <a:cubicBezTo>
                    <a:pt x="90976" y="219175"/>
                    <a:pt x="0" y="170111"/>
                    <a:pt x="0" y="109588"/>
                  </a:cubicBezTo>
                  <a:cubicBezTo>
                    <a:pt x="0" y="4906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83555" cy="257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456961" y="9109779"/>
            <a:ext cx="392846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22366"/>
                </a:solidFill>
                <a:latin typeface="Canva Sans"/>
                <a:ea typeface="Canva Sans"/>
                <a:cs typeface="Canva Sans"/>
                <a:sym typeface="Canva Sans"/>
              </a:rPr>
              <a:t>TO-BE Orthopedy First Evaluation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37454" y="1839336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flipH="1">
            <a:off x="-4961399" y="1040440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7876905" y="0"/>
                </a:moveTo>
                <a:lnTo>
                  <a:pt x="0" y="0"/>
                </a:lnTo>
                <a:lnTo>
                  <a:pt x="0" y="7726439"/>
                </a:lnTo>
                <a:lnTo>
                  <a:pt x="7876905" y="7726439"/>
                </a:lnTo>
                <a:lnTo>
                  <a:pt x="787690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 rot="-1248570">
            <a:off x="14319081" y="6764744"/>
            <a:ext cx="2099363" cy="2991320"/>
          </a:xfrm>
          <a:custGeom>
            <a:avLst/>
            <a:gdLst/>
            <a:ahLst/>
            <a:cxnLst/>
            <a:rect l="l" t="t" r="r" b="b"/>
            <a:pathLst>
              <a:path w="2099363" h="2991320">
                <a:moveTo>
                  <a:pt x="0" y="0"/>
                </a:moveTo>
                <a:lnTo>
                  <a:pt x="2099363" y="0"/>
                </a:lnTo>
                <a:lnTo>
                  <a:pt x="2099363" y="2991320"/>
                </a:lnTo>
                <a:lnTo>
                  <a:pt x="0" y="2991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 rot="-137149">
            <a:off x="16001738" y="5585294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Freeform 6"/>
          <p:cNvSpPr/>
          <p:nvPr/>
        </p:nvSpPr>
        <p:spPr>
          <a:xfrm rot="855077">
            <a:off x="-761394" y="5781721"/>
            <a:ext cx="2066999" cy="2383332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>
            <a:off x="272106" y="2899017"/>
            <a:ext cx="17522115" cy="5607077"/>
          </a:xfrm>
          <a:custGeom>
            <a:avLst/>
            <a:gdLst/>
            <a:ahLst/>
            <a:cxnLst/>
            <a:rect l="l" t="t" r="r" b="b"/>
            <a:pathLst>
              <a:path w="17522115" h="5607077">
                <a:moveTo>
                  <a:pt x="0" y="0"/>
                </a:moveTo>
                <a:lnTo>
                  <a:pt x="17522114" y="0"/>
                </a:lnTo>
                <a:lnTo>
                  <a:pt x="17522114" y="5607077"/>
                </a:lnTo>
                <a:lnTo>
                  <a:pt x="0" y="56070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9" name="Group 9"/>
          <p:cNvGrpSpPr/>
          <p:nvPr/>
        </p:nvGrpSpPr>
        <p:grpSpPr>
          <a:xfrm>
            <a:off x="1149725" y="8717198"/>
            <a:ext cx="4542939" cy="1126924"/>
            <a:chOff x="0" y="0"/>
            <a:chExt cx="883555" cy="2191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3555" cy="219175"/>
            </a:xfrm>
            <a:custGeom>
              <a:avLst/>
              <a:gdLst/>
              <a:ahLst/>
              <a:cxnLst/>
              <a:rect l="l" t="t" r="r" b="b"/>
              <a:pathLst>
                <a:path w="883555" h="219175">
                  <a:moveTo>
                    <a:pt x="680355" y="0"/>
                  </a:moveTo>
                  <a:cubicBezTo>
                    <a:pt x="792579" y="0"/>
                    <a:pt x="883555" y="49064"/>
                    <a:pt x="883555" y="109588"/>
                  </a:cubicBezTo>
                  <a:cubicBezTo>
                    <a:pt x="883555" y="170111"/>
                    <a:pt x="792579" y="219175"/>
                    <a:pt x="680355" y="219175"/>
                  </a:cubicBezTo>
                  <a:lnTo>
                    <a:pt x="203200" y="219175"/>
                  </a:lnTo>
                  <a:cubicBezTo>
                    <a:pt x="90976" y="219175"/>
                    <a:pt x="0" y="170111"/>
                    <a:pt x="0" y="109588"/>
                  </a:cubicBezTo>
                  <a:cubicBezTo>
                    <a:pt x="0" y="4906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83555" cy="257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56961" y="8933315"/>
            <a:ext cx="3928467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22366"/>
                </a:solidFill>
                <a:latin typeface="Canva Sans"/>
                <a:ea typeface="Canva Sans"/>
                <a:cs typeface="Canva Sans"/>
                <a:sym typeface="Canva Sans"/>
              </a:rPr>
              <a:t>TO-BE Orthopedy Surgery sub-process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7927" y="452942"/>
            <a:ext cx="14506158" cy="68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953"/>
              </a:lnSpc>
            </a:pPr>
            <a:r>
              <a:rPr lang="en-US" sz="4252" dirty="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 New Sub-processes for the TO-BE model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37454" y="1839336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flipH="1">
            <a:off x="-4961399" y="1040440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7876905" y="0"/>
                </a:moveTo>
                <a:lnTo>
                  <a:pt x="0" y="0"/>
                </a:lnTo>
                <a:lnTo>
                  <a:pt x="0" y="7726439"/>
                </a:lnTo>
                <a:lnTo>
                  <a:pt x="7876905" y="7726439"/>
                </a:lnTo>
                <a:lnTo>
                  <a:pt x="787690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5173804" y="7342694"/>
            <a:ext cx="7082961" cy="1424185"/>
            <a:chOff x="0" y="0"/>
            <a:chExt cx="883555" cy="1776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3555" cy="177658"/>
            </a:xfrm>
            <a:custGeom>
              <a:avLst/>
              <a:gdLst/>
              <a:ahLst/>
              <a:cxnLst/>
              <a:rect l="l" t="t" r="r" b="b"/>
              <a:pathLst>
                <a:path w="883555" h="177658">
                  <a:moveTo>
                    <a:pt x="680355" y="0"/>
                  </a:moveTo>
                  <a:cubicBezTo>
                    <a:pt x="792579" y="0"/>
                    <a:pt x="883555" y="39770"/>
                    <a:pt x="883555" y="88829"/>
                  </a:cubicBezTo>
                  <a:cubicBezTo>
                    <a:pt x="883555" y="137888"/>
                    <a:pt x="792579" y="177658"/>
                    <a:pt x="680355" y="177658"/>
                  </a:cubicBezTo>
                  <a:lnTo>
                    <a:pt x="203200" y="177658"/>
                  </a:lnTo>
                  <a:cubicBezTo>
                    <a:pt x="90976" y="177658"/>
                    <a:pt x="0" y="137888"/>
                    <a:pt x="0" y="88829"/>
                  </a:cubicBezTo>
                  <a:cubicBezTo>
                    <a:pt x="0" y="3977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83555" cy="215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248570">
            <a:off x="14319081" y="6764744"/>
            <a:ext cx="2099363" cy="2991320"/>
          </a:xfrm>
          <a:custGeom>
            <a:avLst/>
            <a:gdLst/>
            <a:ahLst/>
            <a:cxnLst/>
            <a:rect l="l" t="t" r="r" b="b"/>
            <a:pathLst>
              <a:path w="2099363" h="2991320">
                <a:moveTo>
                  <a:pt x="0" y="0"/>
                </a:moveTo>
                <a:lnTo>
                  <a:pt x="2099363" y="0"/>
                </a:lnTo>
                <a:lnTo>
                  <a:pt x="2099363" y="2991320"/>
                </a:lnTo>
                <a:lnTo>
                  <a:pt x="0" y="2991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 rot="-137149">
            <a:off x="16001738" y="5585294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 rot="855077">
            <a:off x="-761394" y="5781721"/>
            <a:ext cx="2066999" cy="2383332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Freeform 11"/>
          <p:cNvSpPr/>
          <p:nvPr/>
        </p:nvSpPr>
        <p:spPr>
          <a:xfrm>
            <a:off x="1437159" y="2861974"/>
            <a:ext cx="15672072" cy="4290230"/>
          </a:xfrm>
          <a:custGeom>
            <a:avLst/>
            <a:gdLst/>
            <a:ahLst/>
            <a:cxnLst/>
            <a:rect l="l" t="t" r="r" b="b"/>
            <a:pathLst>
              <a:path w="15672072" h="4290230">
                <a:moveTo>
                  <a:pt x="0" y="0"/>
                </a:moveTo>
                <a:lnTo>
                  <a:pt x="15672072" y="0"/>
                </a:lnTo>
                <a:lnTo>
                  <a:pt x="15672072" y="4290229"/>
                </a:lnTo>
                <a:lnTo>
                  <a:pt x="0" y="42902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2" name="TextBox 12"/>
          <p:cNvSpPr txBox="1"/>
          <p:nvPr/>
        </p:nvSpPr>
        <p:spPr>
          <a:xfrm>
            <a:off x="5834754" y="7591236"/>
            <a:ext cx="576106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TO-BE Orthopedy Discharge sub-process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67158" y="432874"/>
            <a:ext cx="14506158" cy="68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953"/>
              </a:lnSpc>
            </a:pPr>
            <a:r>
              <a:rPr lang="en-US" sz="4252" dirty="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 New Sub-processes for the TO-BE model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37783" y="5143500"/>
            <a:ext cx="6191914" cy="6073635"/>
          </a:xfrm>
          <a:custGeom>
            <a:avLst/>
            <a:gdLst/>
            <a:ahLst/>
            <a:cxnLst/>
            <a:rect l="l" t="t" r="r" b="b"/>
            <a:pathLst>
              <a:path w="6191914" h="6073635">
                <a:moveTo>
                  <a:pt x="0" y="0"/>
                </a:moveTo>
                <a:lnTo>
                  <a:pt x="6191914" y="0"/>
                </a:lnTo>
                <a:lnTo>
                  <a:pt x="6191914" y="6073635"/>
                </a:lnTo>
                <a:lnTo>
                  <a:pt x="0" y="6073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2096086" y="5143500"/>
            <a:ext cx="6191914" cy="6073635"/>
          </a:xfrm>
          <a:custGeom>
            <a:avLst/>
            <a:gdLst/>
            <a:ahLst/>
            <a:cxnLst/>
            <a:rect l="l" t="t" r="r" b="b"/>
            <a:pathLst>
              <a:path w="6191914" h="6073635">
                <a:moveTo>
                  <a:pt x="0" y="0"/>
                </a:moveTo>
                <a:lnTo>
                  <a:pt x="6191914" y="0"/>
                </a:lnTo>
                <a:lnTo>
                  <a:pt x="6191914" y="6073635"/>
                </a:lnTo>
                <a:lnTo>
                  <a:pt x="0" y="6073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921247" y="3260580"/>
            <a:ext cx="7082961" cy="3058022"/>
            <a:chOff x="0" y="0"/>
            <a:chExt cx="883555" cy="3814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3555" cy="381469"/>
            </a:xfrm>
            <a:custGeom>
              <a:avLst/>
              <a:gdLst/>
              <a:ahLst/>
              <a:cxnLst/>
              <a:rect l="l" t="t" r="r" b="b"/>
              <a:pathLst>
                <a:path w="883555" h="381469">
                  <a:moveTo>
                    <a:pt x="680355" y="0"/>
                  </a:moveTo>
                  <a:cubicBezTo>
                    <a:pt x="792579" y="0"/>
                    <a:pt x="883555" y="85395"/>
                    <a:pt x="883555" y="190734"/>
                  </a:cubicBezTo>
                  <a:cubicBezTo>
                    <a:pt x="883555" y="296074"/>
                    <a:pt x="792579" y="381469"/>
                    <a:pt x="680355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83555" cy="41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83792" y="3260580"/>
            <a:ext cx="7082961" cy="3058022"/>
            <a:chOff x="0" y="0"/>
            <a:chExt cx="883555" cy="3814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3555" cy="381469"/>
            </a:xfrm>
            <a:custGeom>
              <a:avLst/>
              <a:gdLst/>
              <a:ahLst/>
              <a:cxnLst/>
              <a:rect l="l" t="t" r="r" b="b"/>
              <a:pathLst>
                <a:path w="883555" h="381469">
                  <a:moveTo>
                    <a:pt x="680355" y="0"/>
                  </a:moveTo>
                  <a:cubicBezTo>
                    <a:pt x="792579" y="0"/>
                    <a:pt x="883555" y="85395"/>
                    <a:pt x="883555" y="190734"/>
                  </a:cubicBezTo>
                  <a:cubicBezTo>
                    <a:pt x="883555" y="296074"/>
                    <a:pt x="792579" y="381469"/>
                    <a:pt x="680355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83555" cy="41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065636" y="3049353"/>
            <a:ext cx="4794184" cy="639381"/>
            <a:chOff x="0" y="0"/>
            <a:chExt cx="2860316" cy="3814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60316" cy="381469"/>
            </a:xfrm>
            <a:custGeom>
              <a:avLst/>
              <a:gdLst/>
              <a:ahLst/>
              <a:cxnLst/>
              <a:rect l="l" t="t" r="r" b="b"/>
              <a:pathLst>
                <a:path w="2860316" h="381469">
                  <a:moveTo>
                    <a:pt x="2657116" y="0"/>
                  </a:moveTo>
                  <a:cubicBezTo>
                    <a:pt x="2769341" y="0"/>
                    <a:pt x="2860316" y="85395"/>
                    <a:pt x="2860316" y="190734"/>
                  </a:cubicBezTo>
                  <a:cubicBezTo>
                    <a:pt x="2860316" y="296074"/>
                    <a:pt x="2769341" y="381469"/>
                    <a:pt x="2657116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DD2EA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60316" cy="41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28180" y="3049353"/>
            <a:ext cx="4794184" cy="639381"/>
            <a:chOff x="0" y="0"/>
            <a:chExt cx="2860316" cy="3814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60316" cy="381469"/>
            </a:xfrm>
            <a:custGeom>
              <a:avLst/>
              <a:gdLst/>
              <a:ahLst/>
              <a:cxnLst/>
              <a:rect l="l" t="t" r="r" b="b"/>
              <a:pathLst>
                <a:path w="2860316" h="381469">
                  <a:moveTo>
                    <a:pt x="2657116" y="0"/>
                  </a:moveTo>
                  <a:cubicBezTo>
                    <a:pt x="2769341" y="0"/>
                    <a:pt x="2860316" y="85395"/>
                    <a:pt x="2860316" y="190734"/>
                  </a:cubicBezTo>
                  <a:cubicBezTo>
                    <a:pt x="2860316" y="296074"/>
                    <a:pt x="2769341" y="381469"/>
                    <a:pt x="2657116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DD2EA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60316" cy="41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46531" y="6615044"/>
            <a:ext cx="3549762" cy="3440042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17" name="Group 17"/>
          <p:cNvGrpSpPr/>
          <p:nvPr/>
        </p:nvGrpSpPr>
        <p:grpSpPr>
          <a:xfrm>
            <a:off x="5602519" y="6806054"/>
            <a:ext cx="7082961" cy="3058022"/>
            <a:chOff x="0" y="0"/>
            <a:chExt cx="883555" cy="3814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83555" cy="381469"/>
            </a:xfrm>
            <a:custGeom>
              <a:avLst/>
              <a:gdLst/>
              <a:ahLst/>
              <a:cxnLst/>
              <a:rect l="l" t="t" r="r" b="b"/>
              <a:pathLst>
                <a:path w="883555" h="381469">
                  <a:moveTo>
                    <a:pt x="680355" y="0"/>
                  </a:moveTo>
                  <a:cubicBezTo>
                    <a:pt x="792579" y="0"/>
                    <a:pt x="883555" y="85395"/>
                    <a:pt x="883555" y="190734"/>
                  </a:cubicBezTo>
                  <a:cubicBezTo>
                    <a:pt x="883555" y="296074"/>
                    <a:pt x="792579" y="381469"/>
                    <a:pt x="680355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83555" cy="41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46908" y="6594827"/>
            <a:ext cx="4794184" cy="639381"/>
            <a:chOff x="0" y="0"/>
            <a:chExt cx="2860316" cy="38146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860316" cy="381469"/>
            </a:xfrm>
            <a:custGeom>
              <a:avLst/>
              <a:gdLst/>
              <a:ahLst/>
              <a:cxnLst/>
              <a:rect l="l" t="t" r="r" b="b"/>
              <a:pathLst>
                <a:path w="2860316" h="381469">
                  <a:moveTo>
                    <a:pt x="2657116" y="0"/>
                  </a:moveTo>
                  <a:cubicBezTo>
                    <a:pt x="2769341" y="0"/>
                    <a:pt x="2860316" y="85395"/>
                    <a:pt x="2860316" y="190734"/>
                  </a:cubicBezTo>
                  <a:cubicBezTo>
                    <a:pt x="2860316" y="296074"/>
                    <a:pt x="2769341" y="381469"/>
                    <a:pt x="2657116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DD2EA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860316" cy="41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rot="-1248570">
            <a:off x="14406019" y="6483041"/>
            <a:ext cx="2599568" cy="3704047"/>
          </a:xfrm>
          <a:custGeom>
            <a:avLst/>
            <a:gdLst/>
            <a:ahLst/>
            <a:cxnLst/>
            <a:rect l="l" t="t" r="r" b="b"/>
            <a:pathLst>
              <a:path w="2599568" h="3704047">
                <a:moveTo>
                  <a:pt x="0" y="0"/>
                </a:moveTo>
                <a:lnTo>
                  <a:pt x="2599567" y="0"/>
                </a:lnTo>
                <a:lnTo>
                  <a:pt x="2599567" y="3704048"/>
                </a:lnTo>
                <a:lnTo>
                  <a:pt x="0" y="37040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4" name="Freeform 24"/>
          <p:cNvSpPr/>
          <p:nvPr/>
        </p:nvSpPr>
        <p:spPr>
          <a:xfrm rot="-137149">
            <a:off x="928767" y="2668040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5" name="Freeform 25"/>
          <p:cNvSpPr/>
          <p:nvPr/>
        </p:nvSpPr>
        <p:spPr>
          <a:xfrm rot="-5400000">
            <a:off x="16176745" y="2863637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6" name="TextBox 26"/>
          <p:cNvSpPr txBox="1"/>
          <p:nvPr/>
        </p:nvSpPr>
        <p:spPr>
          <a:xfrm>
            <a:off x="2582198" y="4208493"/>
            <a:ext cx="576106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Reduced from 2h 14m (AS-IS) to 1h 14m (TO-BE). Improvement of &gt; 1 hour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080895" y="4273550"/>
            <a:ext cx="576106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 Increased from 59 to 68 patients completed per shif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196947" y="3073818"/>
            <a:ext cx="4514368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Cycle Time: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559492" y="3073818"/>
            <a:ext cx="4514368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Throughput: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263470" y="7871515"/>
            <a:ext cx="576106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Optimized resource usage with better flow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78219" y="6619292"/>
            <a:ext cx="4514368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Efficiency: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21247" y="9834"/>
            <a:ext cx="13477271" cy="225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3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Final Comparison (AS-IS vs. TO-BE)</a:t>
            </a:r>
          </a:p>
        </p:txBody>
      </p:sp>
      <p:sp>
        <p:nvSpPr>
          <p:cNvPr id="33" name="Freeform 33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21612" y="3409707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9859897" y="-671355"/>
            <a:ext cx="7399403" cy="11629710"/>
          </a:xfrm>
          <a:custGeom>
            <a:avLst/>
            <a:gdLst/>
            <a:ahLst/>
            <a:cxnLst/>
            <a:rect l="l" t="t" r="r" b="b"/>
            <a:pathLst>
              <a:path w="7399403" h="11629710">
                <a:moveTo>
                  <a:pt x="0" y="0"/>
                </a:moveTo>
                <a:lnTo>
                  <a:pt x="7399403" y="0"/>
                </a:lnTo>
                <a:lnTo>
                  <a:pt x="7399403" y="11629710"/>
                </a:lnTo>
                <a:lnTo>
                  <a:pt x="0" y="11629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0621259" y="718329"/>
            <a:ext cx="5694209" cy="8280195"/>
            <a:chOff x="0" y="0"/>
            <a:chExt cx="812800" cy="11819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181927"/>
            </a:xfrm>
            <a:custGeom>
              <a:avLst/>
              <a:gdLst/>
              <a:ahLst/>
              <a:cxnLst/>
              <a:rect l="l" t="t" r="r" b="b"/>
              <a:pathLst>
                <a:path w="812800" h="1181927">
                  <a:moveTo>
                    <a:pt x="0" y="0"/>
                  </a:moveTo>
                  <a:lnTo>
                    <a:pt x="812800" y="0"/>
                  </a:lnTo>
                  <a:lnTo>
                    <a:pt x="812800" y="1181927"/>
                  </a:lnTo>
                  <a:lnTo>
                    <a:pt x="0" y="1181927"/>
                  </a:lnTo>
                  <a:close/>
                </a:path>
              </a:pathLst>
            </a:custGeom>
            <a:solidFill>
              <a:srgbClr val="E9EAF6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22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5447832" y="4858426"/>
            <a:ext cx="6410088" cy="6901845"/>
          </a:xfrm>
          <a:custGeom>
            <a:avLst/>
            <a:gdLst/>
            <a:ahLst/>
            <a:cxnLst/>
            <a:rect l="l" t="t" r="r" b="b"/>
            <a:pathLst>
              <a:path w="6410088" h="6901845">
                <a:moveTo>
                  <a:pt x="0" y="0"/>
                </a:moveTo>
                <a:lnTo>
                  <a:pt x="6410088" y="0"/>
                </a:lnTo>
                <a:lnTo>
                  <a:pt x="6410088" y="6901845"/>
                </a:lnTo>
                <a:lnTo>
                  <a:pt x="0" y="69018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 rot="-1248570">
            <a:off x="7709921" y="64751"/>
            <a:ext cx="1885910" cy="2687178"/>
          </a:xfrm>
          <a:custGeom>
            <a:avLst/>
            <a:gdLst/>
            <a:ahLst/>
            <a:cxnLst/>
            <a:rect l="l" t="t" r="r" b="b"/>
            <a:pathLst>
              <a:path w="1885910" h="2687178">
                <a:moveTo>
                  <a:pt x="0" y="0"/>
                </a:moveTo>
                <a:lnTo>
                  <a:pt x="1885910" y="0"/>
                </a:lnTo>
                <a:lnTo>
                  <a:pt x="1885910" y="2687178"/>
                </a:lnTo>
                <a:lnTo>
                  <a:pt x="0" y="26871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TextBox 9"/>
          <p:cNvSpPr txBox="1"/>
          <p:nvPr/>
        </p:nvSpPr>
        <p:spPr>
          <a:xfrm>
            <a:off x="10791757" y="2037928"/>
            <a:ext cx="5535683" cy="685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3"/>
              </a:lnSpc>
            </a:pPr>
            <a:r>
              <a:rPr lang="en-US" sz="2573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Total Cost per Shift:</a:t>
            </a:r>
          </a:p>
          <a:p>
            <a:pPr algn="ctr">
              <a:lnSpc>
                <a:spcPts val="3603"/>
              </a:lnSpc>
            </a:pPr>
            <a:endParaRPr lang="en-US" sz="2573" b="1">
              <a:solidFill>
                <a:srgbClr val="222366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marL="555662" lvl="1" indent="-277831" algn="ctr">
              <a:lnSpc>
                <a:spcPts val="3603"/>
              </a:lnSpc>
              <a:buFont typeface="Arial"/>
              <a:buChar char="•"/>
            </a:pPr>
            <a:r>
              <a:rPr lang="en-US" sz="2573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AS-IS: €956.20</a:t>
            </a:r>
          </a:p>
          <a:p>
            <a:pPr marL="555662" lvl="1" indent="-277831" algn="ctr">
              <a:lnSpc>
                <a:spcPts val="3603"/>
              </a:lnSpc>
              <a:buFont typeface="Arial"/>
              <a:buChar char="•"/>
            </a:pPr>
            <a:r>
              <a:rPr lang="en-US" sz="2573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TO-BE: €968.25</a:t>
            </a:r>
          </a:p>
          <a:p>
            <a:pPr algn="ctr">
              <a:lnSpc>
                <a:spcPts val="3603"/>
              </a:lnSpc>
            </a:pPr>
            <a:endParaRPr lang="en-US" sz="2573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ctr">
              <a:lnSpc>
                <a:spcPts val="3603"/>
              </a:lnSpc>
            </a:pPr>
            <a:r>
              <a:rPr lang="en-US" sz="2573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Variation</a:t>
            </a:r>
            <a:r>
              <a:rPr lang="en-US" sz="2573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: Minimal increase of +€12.05 per shift.</a:t>
            </a:r>
          </a:p>
          <a:p>
            <a:pPr algn="ctr">
              <a:lnSpc>
                <a:spcPts val="3603"/>
              </a:lnSpc>
            </a:pPr>
            <a:endParaRPr lang="en-US" sz="2573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ctr">
              <a:lnSpc>
                <a:spcPts val="3603"/>
              </a:lnSpc>
            </a:pPr>
            <a:r>
              <a:rPr lang="en-US" sz="2573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Conclusion</a:t>
            </a:r>
            <a:r>
              <a:rPr lang="en-US" sz="2573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: The substantial gain in capacity and speed justifies the marginal cost increase.</a:t>
            </a:r>
          </a:p>
          <a:p>
            <a:pPr algn="ctr">
              <a:lnSpc>
                <a:spcPts val="3603"/>
              </a:lnSpc>
            </a:pPr>
            <a:endParaRPr lang="en-US" sz="2573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ctr">
              <a:lnSpc>
                <a:spcPts val="3603"/>
              </a:lnSpc>
            </a:pPr>
            <a:endParaRPr lang="en-US" sz="2573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ctr">
              <a:lnSpc>
                <a:spcPts val="3603"/>
              </a:lnSpc>
            </a:pPr>
            <a:endParaRPr lang="en-US" sz="2573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ctr">
              <a:lnSpc>
                <a:spcPts val="3603"/>
              </a:lnSpc>
            </a:pPr>
            <a:endParaRPr lang="en-US" sz="2573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35137" y="460110"/>
            <a:ext cx="6793202" cy="269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Financial Evaluation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63445" y="-318668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5277889" y="2040128"/>
            <a:ext cx="7399403" cy="11629710"/>
          </a:xfrm>
          <a:custGeom>
            <a:avLst/>
            <a:gdLst/>
            <a:ahLst/>
            <a:cxnLst/>
            <a:rect l="l" t="t" r="r" b="b"/>
            <a:pathLst>
              <a:path w="7399403" h="11629710">
                <a:moveTo>
                  <a:pt x="0" y="0"/>
                </a:moveTo>
                <a:lnTo>
                  <a:pt x="7399403" y="0"/>
                </a:lnTo>
                <a:lnTo>
                  <a:pt x="7399403" y="11629710"/>
                </a:lnTo>
                <a:lnTo>
                  <a:pt x="0" y="11629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>
            <a:off x="11172951" y="1232221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5" name="Group 5"/>
          <p:cNvGrpSpPr/>
          <p:nvPr/>
        </p:nvGrpSpPr>
        <p:grpSpPr>
          <a:xfrm>
            <a:off x="6130486" y="3544552"/>
            <a:ext cx="5694209" cy="8280195"/>
            <a:chOff x="0" y="0"/>
            <a:chExt cx="812800" cy="11819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181927"/>
            </a:xfrm>
            <a:custGeom>
              <a:avLst/>
              <a:gdLst/>
              <a:ahLst/>
              <a:cxnLst/>
              <a:rect l="l" t="t" r="r" b="b"/>
              <a:pathLst>
                <a:path w="812800" h="1181927">
                  <a:moveTo>
                    <a:pt x="0" y="0"/>
                  </a:moveTo>
                  <a:lnTo>
                    <a:pt x="812800" y="0"/>
                  </a:lnTo>
                  <a:lnTo>
                    <a:pt x="812800" y="1181927"/>
                  </a:lnTo>
                  <a:lnTo>
                    <a:pt x="0" y="1181927"/>
                  </a:lnTo>
                  <a:close/>
                </a:path>
              </a:pathLst>
            </a:custGeom>
            <a:solidFill>
              <a:srgbClr val="E9EAF6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122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257881">
            <a:off x="-481978" y="1723876"/>
            <a:ext cx="3021357" cy="2927969"/>
          </a:xfrm>
          <a:custGeom>
            <a:avLst/>
            <a:gdLst/>
            <a:ahLst/>
            <a:cxnLst/>
            <a:rect l="l" t="t" r="r" b="b"/>
            <a:pathLst>
              <a:path w="3021357" h="2927969">
                <a:moveTo>
                  <a:pt x="0" y="0"/>
                </a:moveTo>
                <a:lnTo>
                  <a:pt x="3021356" y="0"/>
                </a:lnTo>
                <a:lnTo>
                  <a:pt x="3021356" y="2927969"/>
                </a:lnTo>
                <a:lnTo>
                  <a:pt x="0" y="29279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 rot="-137149">
            <a:off x="11976289" y="3981099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7"/>
                </a:lnTo>
                <a:lnTo>
                  <a:pt x="0" y="14020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 rot="-1248570">
            <a:off x="14890407" y="13453"/>
            <a:ext cx="2532247" cy="3608124"/>
          </a:xfrm>
          <a:custGeom>
            <a:avLst/>
            <a:gdLst/>
            <a:ahLst/>
            <a:cxnLst/>
            <a:rect l="l" t="t" r="r" b="b"/>
            <a:pathLst>
              <a:path w="2532247" h="3608124">
                <a:moveTo>
                  <a:pt x="0" y="0"/>
                </a:moveTo>
                <a:lnTo>
                  <a:pt x="2532247" y="0"/>
                </a:lnTo>
                <a:lnTo>
                  <a:pt x="2532247" y="3608124"/>
                </a:lnTo>
                <a:lnTo>
                  <a:pt x="0" y="36081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TextBox 11"/>
          <p:cNvSpPr txBox="1"/>
          <p:nvPr/>
        </p:nvSpPr>
        <p:spPr>
          <a:xfrm>
            <a:off x="6681413" y="3896548"/>
            <a:ext cx="4925174" cy="656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BPM Success</a:t>
            </a: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: The project successfully applied the BPM lifecycle to optimize the Minor Trauma Circuit.</a:t>
            </a:r>
          </a:p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Efficiency Gains</a:t>
            </a: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: Achieved a ~50% reduction in cycle time and increased capacity through flow redesign and resource adjustment.</a:t>
            </a:r>
          </a:p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Value</a:t>
            </a:r>
            <a:r>
              <a:rPr lang="en-US" sz="2499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: Demonstrated that structured process analysis can significantly improve healthcare operations with minimal financial impact</a:t>
            </a:r>
          </a:p>
          <a:p>
            <a:pPr algn="ctr">
              <a:lnSpc>
                <a:spcPts val="3499"/>
              </a:lnSpc>
            </a:pPr>
            <a:endParaRPr lang="en-US" sz="2499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176597" y="581877"/>
            <a:ext cx="11934806" cy="136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Conclusion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21612" y="3409707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9859897" y="-671355"/>
            <a:ext cx="7399403" cy="11629710"/>
          </a:xfrm>
          <a:custGeom>
            <a:avLst/>
            <a:gdLst/>
            <a:ahLst/>
            <a:cxnLst/>
            <a:rect l="l" t="t" r="r" b="b"/>
            <a:pathLst>
              <a:path w="7399403" h="11629710">
                <a:moveTo>
                  <a:pt x="0" y="0"/>
                </a:moveTo>
                <a:lnTo>
                  <a:pt x="7399403" y="0"/>
                </a:lnTo>
                <a:lnTo>
                  <a:pt x="7399403" y="11629710"/>
                </a:lnTo>
                <a:lnTo>
                  <a:pt x="0" y="11629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10621259" y="718329"/>
            <a:ext cx="5694209" cy="8280195"/>
            <a:chOff x="0" y="0"/>
            <a:chExt cx="812800" cy="11819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181927"/>
            </a:xfrm>
            <a:custGeom>
              <a:avLst/>
              <a:gdLst/>
              <a:ahLst/>
              <a:cxnLst/>
              <a:rect l="l" t="t" r="r" b="b"/>
              <a:pathLst>
                <a:path w="812800" h="1181927">
                  <a:moveTo>
                    <a:pt x="0" y="0"/>
                  </a:moveTo>
                  <a:lnTo>
                    <a:pt x="812800" y="0"/>
                  </a:lnTo>
                  <a:lnTo>
                    <a:pt x="812800" y="1181927"/>
                  </a:lnTo>
                  <a:lnTo>
                    <a:pt x="0" y="1181927"/>
                  </a:lnTo>
                  <a:close/>
                </a:path>
              </a:pathLst>
            </a:custGeom>
            <a:solidFill>
              <a:srgbClr val="E9EAF6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22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5447832" y="4858426"/>
            <a:ext cx="6410088" cy="6901845"/>
          </a:xfrm>
          <a:custGeom>
            <a:avLst/>
            <a:gdLst/>
            <a:ahLst/>
            <a:cxnLst/>
            <a:rect l="l" t="t" r="r" b="b"/>
            <a:pathLst>
              <a:path w="6410088" h="6901845">
                <a:moveTo>
                  <a:pt x="0" y="0"/>
                </a:moveTo>
                <a:lnTo>
                  <a:pt x="6410088" y="0"/>
                </a:lnTo>
                <a:lnTo>
                  <a:pt x="6410088" y="6901845"/>
                </a:lnTo>
                <a:lnTo>
                  <a:pt x="0" y="69018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 rot="-1248570">
            <a:off x="7709921" y="64751"/>
            <a:ext cx="1885910" cy="2687178"/>
          </a:xfrm>
          <a:custGeom>
            <a:avLst/>
            <a:gdLst/>
            <a:ahLst/>
            <a:cxnLst/>
            <a:rect l="l" t="t" r="r" b="b"/>
            <a:pathLst>
              <a:path w="1885910" h="2687178">
                <a:moveTo>
                  <a:pt x="0" y="0"/>
                </a:moveTo>
                <a:lnTo>
                  <a:pt x="1885910" y="0"/>
                </a:lnTo>
                <a:lnTo>
                  <a:pt x="1885910" y="2687178"/>
                </a:lnTo>
                <a:lnTo>
                  <a:pt x="0" y="26871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TextBox 9"/>
          <p:cNvSpPr txBox="1"/>
          <p:nvPr/>
        </p:nvSpPr>
        <p:spPr>
          <a:xfrm>
            <a:off x="10791757" y="962025"/>
            <a:ext cx="5535683" cy="10059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3"/>
              </a:lnSpc>
            </a:pPr>
            <a:r>
              <a:rPr lang="en-US" sz="2573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Academic Scope: </a:t>
            </a:r>
            <a:r>
              <a:rPr lang="en-US" sz="2573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Project limited to Analysis and Redesign phases; Implementation and Control were excluded.</a:t>
            </a:r>
          </a:p>
          <a:p>
            <a:pPr algn="ctr">
              <a:lnSpc>
                <a:spcPts val="3603"/>
              </a:lnSpc>
            </a:pPr>
            <a:endParaRPr lang="en-US" sz="2573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ctr">
              <a:lnSpc>
                <a:spcPts val="3603"/>
              </a:lnSpc>
            </a:pPr>
            <a:r>
              <a:rPr lang="en-US" sz="2573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Estimation: </a:t>
            </a:r>
            <a:r>
              <a:rPr lang="en-US" sz="2573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Simulation relies on estimated averages rather than empirical data.</a:t>
            </a:r>
          </a:p>
          <a:p>
            <a:pPr algn="ctr">
              <a:lnSpc>
                <a:spcPts val="3603"/>
              </a:lnSpc>
            </a:pPr>
            <a:endParaRPr lang="en-US" sz="2573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ctr">
              <a:lnSpc>
                <a:spcPts val="3603"/>
              </a:lnSpc>
            </a:pPr>
            <a:r>
              <a:rPr lang="en-US" sz="2573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Resource Focus: </a:t>
            </a:r>
            <a:r>
              <a:rPr lang="en-US" sz="2573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Model excludes shared resource constraints (interdependencies) with other hospital departments.</a:t>
            </a:r>
          </a:p>
          <a:p>
            <a:pPr algn="ctr">
              <a:lnSpc>
                <a:spcPts val="3603"/>
              </a:lnSpc>
            </a:pPr>
            <a:endParaRPr lang="en-US" sz="2573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ctr">
              <a:lnSpc>
                <a:spcPts val="3603"/>
              </a:lnSpc>
            </a:pPr>
            <a:r>
              <a:rPr lang="en-US" sz="2573" b="1">
                <a:solidFill>
                  <a:srgbClr val="22236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External Constraints: </a:t>
            </a:r>
            <a:r>
              <a:rPr lang="en-US" sz="2573">
                <a:solidFill>
                  <a:srgbClr val="222366"/>
                </a:solidFill>
                <a:latin typeface="Public Sans"/>
                <a:ea typeface="Public Sans"/>
                <a:cs typeface="Public Sans"/>
                <a:sym typeface="Public Sans"/>
              </a:rPr>
              <a:t>Contractual dependency on external CT reporting could not be altered</a:t>
            </a:r>
          </a:p>
          <a:p>
            <a:pPr algn="ctr">
              <a:lnSpc>
                <a:spcPts val="3603"/>
              </a:lnSpc>
            </a:pPr>
            <a:endParaRPr lang="en-US" sz="2573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ctr">
              <a:lnSpc>
                <a:spcPts val="3603"/>
              </a:lnSpc>
            </a:pPr>
            <a:endParaRPr lang="en-US" sz="2573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ctr">
              <a:lnSpc>
                <a:spcPts val="3603"/>
              </a:lnSpc>
            </a:pPr>
            <a:endParaRPr lang="en-US" sz="2573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ctr">
              <a:lnSpc>
                <a:spcPts val="3603"/>
              </a:lnSpc>
            </a:pPr>
            <a:endParaRPr lang="en-US" sz="2573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ctr">
              <a:lnSpc>
                <a:spcPts val="3603"/>
              </a:lnSpc>
            </a:pPr>
            <a:endParaRPr lang="en-US" sz="2573">
              <a:solidFill>
                <a:srgbClr val="222366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08216" y="499254"/>
            <a:ext cx="7352942" cy="136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222366"/>
                </a:solidFill>
                <a:latin typeface="Brick Sans"/>
                <a:ea typeface="Brick Sans"/>
                <a:cs typeface="Brick Sans"/>
                <a:sym typeface="Brick Sans"/>
              </a:rPr>
              <a:t>Limitations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820030" y="0"/>
            <a:ext cx="1467970" cy="1467970"/>
          </a:xfrm>
          <a:custGeom>
            <a:avLst/>
            <a:gdLst/>
            <a:ahLst/>
            <a:cxnLst/>
            <a:rect l="l" t="t" r="r" b="b"/>
            <a:pathLst>
              <a:path w="1467970" h="1467970">
                <a:moveTo>
                  <a:pt x="0" y="0"/>
                </a:moveTo>
                <a:lnTo>
                  <a:pt x="1467970" y="0"/>
                </a:lnTo>
                <a:lnTo>
                  <a:pt x="1467970" y="1467970"/>
                </a:lnTo>
                <a:lnTo>
                  <a:pt x="0" y="1467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827</Words>
  <Application>Microsoft Office PowerPoint</Application>
  <PresentationFormat>Custom</PresentationFormat>
  <Paragraphs>122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Public Sans Heavy</vt:lpstr>
      <vt:lpstr>Brick Sans</vt:lpstr>
      <vt:lpstr>Public Sans</vt:lpstr>
      <vt:lpstr>Calibri</vt:lpstr>
      <vt:lpstr>Public Sans Bold</vt:lpstr>
      <vt:lpstr>Canva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Minor Trauma Emergency Circuit (MonoTrauma) Redesign - ULS São José</dc:title>
  <dc:creator>Rui Quintas</dc:creator>
  <cp:lastModifiedBy>Rui Quintas</cp:lastModifiedBy>
  <cp:revision>3</cp:revision>
  <dcterms:created xsi:type="dcterms:W3CDTF">2006-08-16T00:00:00Z</dcterms:created>
  <dcterms:modified xsi:type="dcterms:W3CDTF">2025-12-15T00:08:24Z</dcterms:modified>
  <dc:identifier>DAG61eqNZsc</dc:identifier>
</cp:coreProperties>
</file>